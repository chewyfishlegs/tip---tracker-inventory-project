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hildos Arabic" charset="1" panose="00000500000000000000"/>
      <p:regular r:id="rId22"/>
    </p:embeddedFont>
    <p:embeddedFont>
      <p:font typeface="Cubao Narrow" charset="1" panose="02000506000000000000"/>
      <p:regular r:id="rId23"/>
    </p:embeddedFont>
    <p:embeddedFont>
      <p:font typeface="Childos Arabic Bold" charset="1" panose="00000800000000000000"/>
      <p:regular r:id="rId24"/>
    </p:embeddedFont>
    <p:embeddedFont>
      <p:font typeface="Cubao" charset="1" panose="02000503000000000000"/>
      <p:regular r:id="rId25"/>
    </p:embeddedFont>
    <p:embeddedFont>
      <p:font typeface="Cubao Wide" charset="1" panose="02000503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media/image43.png" Type="http://schemas.openxmlformats.org/officeDocument/2006/relationships/image"/><Relationship Id="rId3" Target="../media/image44.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E6C0"/>
        </a:solidFill>
      </p:bgPr>
    </p:bg>
    <p:spTree>
      <p:nvGrpSpPr>
        <p:cNvPr id="1" name=""/>
        <p:cNvGrpSpPr/>
        <p:nvPr/>
      </p:nvGrpSpPr>
      <p:grpSpPr>
        <a:xfrm>
          <a:off x="0" y="0"/>
          <a:ext cx="0" cy="0"/>
          <a:chOff x="0" y="0"/>
          <a:chExt cx="0" cy="0"/>
        </a:xfrm>
      </p:grpSpPr>
      <p:grpSp>
        <p:nvGrpSpPr>
          <p:cNvPr name="Group 2" id="2"/>
          <p:cNvGrpSpPr/>
          <p:nvPr/>
        </p:nvGrpSpPr>
        <p:grpSpPr>
          <a:xfrm rot="0">
            <a:off x="-2414518" y="8493838"/>
            <a:ext cx="23730593" cy="1971494"/>
            <a:chOff x="0" y="0"/>
            <a:chExt cx="7923403" cy="658262"/>
          </a:xfrm>
        </p:grpSpPr>
        <p:sp>
          <p:nvSpPr>
            <p:cNvPr name="Freeform 3" id="3"/>
            <p:cNvSpPr/>
            <p:nvPr/>
          </p:nvSpPr>
          <p:spPr>
            <a:xfrm flipH="false" flipV="false" rot="0">
              <a:off x="0" y="0"/>
              <a:ext cx="7923403" cy="658262"/>
            </a:xfrm>
            <a:custGeom>
              <a:avLst/>
              <a:gdLst/>
              <a:ahLst/>
              <a:cxnLst/>
              <a:rect r="r" b="b" t="t" l="l"/>
              <a:pathLst>
                <a:path h="658262" w="7923403">
                  <a:moveTo>
                    <a:pt x="0" y="0"/>
                  </a:moveTo>
                  <a:lnTo>
                    <a:pt x="7923403" y="0"/>
                  </a:lnTo>
                  <a:lnTo>
                    <a:pt x="7923403" y="658262"/>
                  </a:lnTo>
                  <a:lnTo>
                    <a:pt x="0" y="658262"/>
                  </a:lnTo>
                  <a:close/>
                </a:path>
              </a:pathLst>
            </a:custGeom>
            <a:solidFill>
              <a:srgbClr val="36312E"/>
            </a:solidFill>
          </p:spPr>
        </p:sp>
        <p:sp>
          <p:nvSpPr>
            <p:cNvPr name="TextBox 4" id="4"/>
            <p:cNvSpPr txBox="true"/>
            <p:nvPr/>
          </p:nvSpPr>
          <p:spPr>
            <a:xfrm>
              <a:off x="0" y="-38100"/>
              <a:ext cx="7923403" cy="6963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6085979" y="5612336"/>
            <a:ext cx="2184703" cy="2881502"/>
          </a:xfrm>
          <a:custGeom>
            <a:avLst/>
            <a:gdLst/>
            <a:ahLst/>
            <a:cxnLst/>
            <a:rect r="r" b="b" t="t" l="l"/>
            <a:pathLst>
              <a:path h="2881502" w="2184703">
                <a:moveTo>
                  <a:pt x="0" y="0"/>
                </a:moveTo>
                <a:lnTo>
                  <a:pt x="2184703" y="0"/>
                </a:lnTo>
                <a:lnTo>
                  <a:pt x="2184703" y="2881502"/>
                </a:lnTo>
                <a:lnTo>
                  <a:pt x="0" y="2881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270682" y="5319806"/>
            <a:ext cx="3398824" cy="3145458"/>
          </a:xfrm>
          <a:custGeom>
            <a:avLst/>
            <a:gdLst/>
            <a:ahLst/>
            <a:cxnLst/>
            <a:rect r="r" b="b" t="t" l="l"/>
            <a:pathLst>
              <a:path h="3145458" w="3398824">
                <a:moveTo>
                  <a:pt x="0" y="0"/>
                </a:moveTo>
                <a:lnTo>
                  <a:pt x="3398824" y="0"/>
                </a:lnTo>
                <a:lnTo>
                  <a:pt x="3398824" y="3145457"/>
                </a:lnTo>
                <a:lnTo>
                  <a:pt x="0" y="31454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998991" y="6329456"/>
            <a:ext cx="2255331" cy="2230727"/>
          </a:xfrm>
          <a:custGeom>
            <a:avLst/>
            <a:gdLst/>
            <a:ahLst/>
            <a:cxnLst/>
            <a:rect r="r" b="b" t="t" l="l"/>
            <a:pathLst>
              <a:path h="2230727" w="2255331">
                <a:moveTo>
                  <a:pt x="0" y="0"/>
                </a:moveTo>
                <a:lnTo>
                  <a:pt x="2255331" y="0"/>
                </a:lnTo>
                <a:lnTo>
                  <a:pt x="2255331" y="2230727"/>
                </a:lnTo>
                <a:lnTo>
                  <a:pt x="0" y="22307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06785" y="5348381"/>
            <a:ext cx="2870945" cy="3145458"/>
          </a:xfrm>
          <a:custGeom>
            <a:avLst/>
            <a:gdLst/>
            <a:ahLst/>
            <a:cxnLst/>
            <a:rect r="r" b="b" t="t" l="l"/>
            <a:pathLst>
              <a:path h="3145458" w="2870945">
                <a:moveTo>
                  <a:pt x="0" y="0"/>
                </a:moveTo>
                <a:lnTo>
                  <a:pt x="2870945" y="0"/>
                </a:lnTo>
                <a:lnTo>
                  <a:pt x="2870945" y="3145457"/>
                </a:lnTo>
                <a:lnTo>
                  <a:pt x="0" y="31454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9226419" y="8704178"/>
            <a:ext cx="6951138" cy="569048"/>
          </a:xfrm>
          <a:prstGeom prst="rect">
            <a:avLst/>
          </a:prstGeom>
        </p:spPr>
        <p:txBody>
          <a:bodyPr anchor="t" rtlCol="false" tIns="0" lIns="0" bIns="0" rIns="0">
            <a:spAutoFit/>
          </a:bodyPr>
          <a:lstStyle/>
          <a:p>
            <a:pPr algn="ctr">
              <a:lnSpc>
                <a:spcPts val="3860"/>
              </a:lnSpc>
            </a:pPr>
            <a:r>
              <a:rPr lang="en-US" sz="4242">
                <a:solidFill>
                  <a:srgbClr val="FFFFFF"/>
                </a:solidFill>
                <a:latin typeface="Childos Arabic"/>
              </a:rPr>
              <a:t>Ollaban, Isabela Cristie</a:t>
            </a:r>
          </a:p>
        </p:txBody>
      </p:sp>
      <p:sp>
        <p:nvSpPr>
          <p:cNvPr name="Freeform 10" id="10"/>
          <p:cNvSpPr/>
          <p:nvPr/>
        </p:nvSpPr>
        <p:spPr>
          <a:xfrm flipH="false" flipV="false" rot="0">
            <a:off x="11536726" y="5409577"/>
            <a:ext cx="2904731" cy="3144885"/>
          </a:xfrm>
          <a:custGeom>
            <a:avLst/>
            <a:gdLst/>
            <a:ahLst/>
            <a:cxnLst/>
            <a:rect r="r" b="b" t="t" l="l"/>
            <a:pathLst>
              <a:path h="3144885" w="2904731">
                <a:moveTo>
                  <a:pt x="0" y="0"/>
                </a:moveTo>
                <a:lnTo>
                  <a:pt x="2904730" y="0"/>
                </a:lnTo>
                <a:lnTo>
                  <a:pt x="2904730" y="3144885"/>
                </a:lnTo>
                <a:lnTo>
                  <a:pt x="0" y="31448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53979" y="6087326"/>
            <a:ext cx="1974818" cy="2770791"/>
          </a:xfrm>
          <a:custGeom>
            <a:avLst/>
            <a:gdLst/>
            <a:ahLst/>
            <a:cxnLst/>
            <a:rect r="r" b="b" t="t" l="l"/>
            <a:pathLst>
              <a:path h="2770791" w="1974818">
                <a:moveTo>
                  <a:pt x="0" y="0"/>
                </a:moveTo>
                <a:lnTo>
                  <a:pt x="1974819" y="0"/>
                </a:lnTo>
                <a:lnTo>
                  <a:pt x="1974819" y="2770791"/>
                </a:lnTo>
                <a:lnTo>
                  <a:pt x="0" y="277079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2" id="12"/>
          <p:cNvSpPr txBox="true"/>
          <p:nvPr/>
        </p:nvSpPr>
        <p:spPr>
          <a:xfrm rot="0">
            <a:off x="2110442" y="8674327"/>
            <a:ext cx="6951138" cy="569048"/>
          </a:xfrm>
          <a:prstGeom prst="rect">
            <a:avLst/>
          </a:prstGeom>
        </p:spPr>
        <p:txBody>
          <a:bodyPr anchor="t" rtlCol="false" tIns="0" lIns="0" bIns="0" rIns="0">
            <a:spAutoFit/>
          </a:bodyPr>
          <a:lstStyle/>
          <a:p>
            <a:pPr algn="ctr">
              <a:lnSpc>
                <a:spcPts val="3860"/>
              </a:lnSpc>
            </a:pPr>
            <a:r>
              <a:rPr lang="en-US" sz="4242">
                <a:solidFill>
                  <a:srgbClr val="FFFFFF"/>
                </a:solidFill>
                <a:latin typeface="Childos Arabic"/>
              </a:rPr>
              <a:t>Bisuela, Jason John</a:t>
            </a:r>
          </a:p>
        </p:txBody>
      </p:sp>
      <p:sp>
        <p:nvSpPr>
          <p:cNvPr name="Freeform 13" id="13"/>
          <p:cNvSpPr/>
          <p:nvPr/>
        </p:nvSpPr>
        <p:spPr>
          <a:xfrm flipH="false" flipV="false" rot="0">
            <a:off x="3380208" y="6056250"/>
            <a:ext cx="2686721" cy="2437588"/>
          </a:xfrm>
          <a:custGeom>
            <a:avLst/>
            <a:gdLst/>
            <a:ahLst/>
            <a:cxnLst/>
            <a:rect r="r" b="b" t="t" l="l"/>
            <a:pathLst>
              <a:path h="2437588" w="2686721">
                <a:moveTo>
                  <a:pt x="0" y="0"/>
                </a:moveTo>
                <a:lnTo>
                  <a:pt x="2686721" y="0"/>
                </a:lnTo>
                <a:lnTo>
                  <a:pt x="2686721" y="2437588"/>
                </a:lnTo>
                <a:lnTo>
                  <a:pt x="0" y="243758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2877148" y="5946876"/>
            <a:ext cx="1254410" cy="2705591"/>
          </a:xfrm>
          <a:custGeom>
            <a:avLst/>
            <a:gdLst/>
            <a:ahLst/>
            <a:cxnLst/>
            <a:rect r="r" b="b" t="t" l="l"/>
            <a:pathLst>
              <a:path h="2705591" w="1254410">
                <a:moveTo>
                  <a:pt x="0" y="0"/>
                </a:moveTo>
                <a:lnTo>
                  <a:pt x="1254410" y="0"/>
                </a:lnTo>
                <a:lnTo>
                  <a:pt x="1254410" y="2705591"/>
                </a:lnTo>
                <a:lnTo>
                  <a:pt x="0" y="270559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5" id="15"/>
          <p:cNvSpPr txBox="true"/>
          <p:nvPr/>
        </p:nvSpPr>
        <p:spPr>
          <a:xfrm rot="0">
            <a:off x="6076454" y="209030"/>
            <a:ext cx="6135092" cy="3745798"/>
          </a:xfrm>
          <a:prstGeom prst="rect">
            <a:avLst/>
          </a:prstGeom>
        </p:spPr>
        <p:txBody>
          <a:bodyPr anchor="t" rtlCol="false" tIns="0" lIns="0" bIns="0" rIns="0">
            <a:spAutoFit/>
          </a:bodyPr>
          <a:lstStyle/>
          <a:p>
            <a:pPr algn="ctr">
              <a:lnSpc>
                <a:spcPts val="26836"/>
              </a:lnSpc>
            </a:pPr>
            <a:r>
              <a:rPr lang="en-US" sz="25317">
                <a:solidFill>
                  <a:srgbClr val="A91901"/>
                </a:solidFill>
                <a:latin typeface="Cubao Narrow"/>
              </a:rPr>
              <a:t>T</a:t>
            </a:r>
            <a:r>
              <a:rPr lang="en-US" sz="25317">
                <a:solidFill>
                  <a:srgbClr val="0E6BAA"/>
                </a:solidFill>
                <a:latin typeface="Cubao Narrow"/>
              </a:rPr>
              <a:t>.</a:t>
            </a:r>
            <a:r>
              <a:rPr lang="en-US" sz="25317">
                <a:solidFill>
                  <a:srgbClr val="A91901"/>
                </a:solidFill>
                <a:latin typeface="Cubao Narrow"/>
              </a:rPr>
              <a:t>I</a:t>
            </a:r>
            <a:r>
              <a:rPr lang="en-US" sz="25317">
                <a:solidFill>
                  <a:srgbClr val="0E6BAA"/>
                </a:solidFill>
                <a:latin typeface="Cubao Narrow"/>
              </a:rPr>
              <a:t>.</a:t>
            </a:r>
            <a:r>
              <a:rPr lang="en-US" sz="25317">
                <a:solidFill>
                  <a:srgbClr val="A91901"/>
                </a:solidFill>
                <a:latin typeface="Cubao Narrow"/>
              </a:rPr>
              <a:t>P</a:t>
            </a:r>
            <a:r>
              <a:rPr lang="en-US" sz="25317">
                <a:solidFill>
                  <a:srgbClr val="0E6BAA"/>
                </a:solidFill>
                <a:latin typeface="Cubao Narrow"/>
              </a:rPr>
              <a:t>.</a:t>
            </a:r>
          </a:p>
        </p:txBody>
      </p:sp>
      <p:sp>
        <p:nvSpPr>
          <p:cNvPr name="TextBox 16" id="16"/>
          <p:cNvSpPr txBox="true"/>
          <p:nvPr/>
        </p:nvSpPr>
        <p:spPr>
          <a:xfrm rot="0">
            <a:off x="1642258" y="3195665"/>
            <a:ext cx="15617042" cy="1303020"/>
          </a:xfrm>
          <a:prstGeom prst="rect">
            <a:avLst/>
          </a:prstGeom>
        </p:spPr>
        <p:txBody>
          <a:bodyPr anchor="t" rtlCol="false" tIns="0" lIns="0" bIns="0" rIns="0">
            <a:spAutoFit/>
          </a:bodyPr>
          <a:lstStyle/>
          <a:p>
            <a:pPr algn="ctr">
              <a:lnSpc>
                <a:spcPts val="10080"/>
              </a:lnSpc>
            </a:pPr>
            <a:r>
              <a:rPr lang="en-US" sz="7200">
                <a:solidFill>
                  <a:srgbClr val="A91901"/>
                </a:solidFill>
                <a:latin typeface="Childos Arabic Bold"/>
              </a:rPr>
              <a:t>T</a:t>
            </a:r>
            <a:r>
              <a:rPr lang="en-US" sz="7200">
                <a:solidFill>
                  <a:srgbClr val="2C5A7D"/>
                </a:solidFill>
                <a:latin typeface="Childos Arabic Bold"/>
              </a:rPr>
              <a:t>racker for </a:t>
            </a:r>
            <a:r>
              <a:rPr lang="en-US" sz="7200">
                <a:solidFill>
                  <a:srgbClr val="A91901"/>
                </a:solidFill>
                <a:latin typeface="Childos Arabic Bold"/>
              </a:rPr>
              <a:t>I</a:t>
            </a:r>
            <a:r>
              <a:rPr lang="en-US" sz="7200">
                <a:solidFill>
                  <a:srgbClr val="2C5A7D"/>
                </a:solidFill>
                <a:latin typeface="Childos Arabic Bold"/>
              </a:rPr>
              <a:t>nventory and </a:t>
            </a:r>
            <a:r>
              <a:rPr lang="en-US" sz="7200">
                <a:solidFill>
                  <a:srgbClr val="A91901"/>
                </a:solidFill>
                <a:latin typeface="Childos Arabic Bold"/>
              </a:rPr>
              <a:t>P</a:t>
            </a:r>
            <a:r>
              <a:rPr lang="en-US" sz="7200">
                <a:solidFill>
                  <a:srgbClr val="2C5A7D"/>
                </a:solidFill>
                <a:latin typeface="Childos Arabic Bold"/>
              </a:rPr>
              <a:t>rofit</a:t>
            </a:r>
          </a:p>
        </p:txBody>
      </p:sp>
      <p:sp>
        <p:nvSpPr>
          <p:cNvPr name="Freeform 17" id="17"/>
          <p:cNvSpPr/>
          <p:nvPr/>
        </p:nvSpPr>
        <p:spPr>
          <a:xfrm flipH="true" flipV="false" rot="0">
            <a:off x="-839908" y="3131406"/>
            <a:ext cx="3003976" cy="873884"/>
          </a:xfrm>
          <a:custGeom>
            <a:avLst/>
            <a:gdLst/>
            <a:ahLst/>
            <a:cxnLst/>
            <a:rect r="r" b="b" t="t" l="l"/>
            <a:pathLst>
              <a:path h="873884" w="3003976">
                <a:moveTo>
                  <a:pt x="3003976" y="0"/>
                </a:moveTo>
                <a:lnTo>
                  <a:pt x="0" y="0"/>
                </a:lnTo>
                <a:lnTo>
                  <a:pt x="0" y="873884"/>
                </a:lnTo>
                <a:lnTo>
                  <a:pt x="3003976" y="873884"/>
                </a:lnTo>
                <a:lnTo>
                  <a:pt x="3003976"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true" flipV="false" rot="0">
            <a:off x="1335479" y="2262388"/>
            <a:ext cx="1856705" cy="540132"/>
          </a:xfrm>
          <a:custGeom>
            <a:avLst/>
            <a:gdLst/>
            <a:ahLst/>
            <a:cxnLst/>
            <a:rect r="r" b="b" t="t" l="l"/>
            <a:pathLst>
              <a:path h="540132" w="1856705">
                <a:moveTo>
                  <a:pt x="1856705" y="0"/>
                </a:moveTo>
                <a:lnTo>
                  <a:pt x="0" y="0"/>
                </a:lnTo>
                <a:lnTo>
                  <a:pt x="0" y="540132"/>
                </a:lnTo>
                <a:lnTo>
                  <a:pt x="1856705" y="540132"/>
                </a:lnTo>
                <a:lnTo>
                  <a:pt x="1856705"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9" id="19"/>
          <p:cNvSpPr/>
          <p:nvPr/>
        </p:nvSpPr>
        <p:spPr>
          <a:xfrm flipH="true" flipV="false" rot="0">
            <a:off x="0" y="560503"/>
            <a:ext cx="1856705" cy="540132"/>
          </a:xfrm>
          <a:custGeom>
            <a:avLst/>
            <a:gdLst/>
            <a:ahLst/>
            <a:cxnLst/>
            <a:rect r="r" b="b" t="t" l="l"/>
            <a:pathLst>
              <a:path h="540132" w="1856705">
                <a:moveTo>
                  <a:pt x="1856705" y="0"/>
                </a:moveTo>
                <a:lnTo>
                  <a:pt x="0" y="0"/>
                </a:lnTo>
                <a:lnTo>
                  <a:pt x="0" y="540132"/>
                </a:lnTo>
                <a:lnTo>
                  <a:pt x="1856705" y="540132"/>
                </a:lnTo>
                <a:lnTo>
                  <a:pt x="1856705"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0" id="20"/>
          <p:cNvSpPr/>
          <p:nvPr/>
        </p:nvSpPr>
        <p:spPr>
          <a:xfrm flipH="true" flipV="false" rot="0">
            <a:off x="15095816" y="4408198"/>
            <a:ext cx="1856705" cy="540132"/>
          </a:xfrm>
          <a:custGeom>
            <a:avLst/>
            <a:gdLst/>
            <a:ahLst/>
            <a:cxnLst/>
            <a:rect r="r" b="b" t="t" l="l"/>
            <a:pathLst>
              <a:path h="540132" w="1856705">
                <a:moveTo>
                  <a:pt x="1856705" y="0"/>
                </a:moveTo>
                <a:lnTo>
                  <a:pt x="0" y="0"/>
                </a:lnTo>
                <a:lnTo>
                  <a:pt x="0" y="540133"/>
                </a:lnTo>
                <a:lnTo>
                  <a:pt x="1856705" y="540133"/>
                </a:lnTo>
                <a:lnTo>
                  <a:pt x="1856705"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1" id="21"/>
          <p:cNvSpPr/>
          <p:nvPr/>
        </p:nvSpPr>
        <p:spPr>
          <a:xfrm flipH="true" flipV="false" rot="0">
            <a:off x="16244893" y="3131406"/>
            <a:ext cx="2731164" cy="794520"/>
          </a:xfrm>
          <a:custGeom>
            <a:avLst/>
            <a:gdLst/>
            <a:ahLst/>
            <a:cxnLst/>
            <a:rect r="r" b="b" t="t" l="l"/>
            <a:pathLst>
              <a:path h="794520" w="2731164">
                <a:moveTo>
                  <a:pt x="2731164" y="0"/>
                </a:moveTo>
                <a:lnTo>
                  <a:pt x="0" y="0"/>
                </a:lnTo>
                <a:lnTo>
                  <a:pt x="0" y="794520"/>
                </a:lnTo>
                <a:lnTo>
                  <a:pt x="2731164" y="794520"/>
                </a:lnTo>
                <a:lnTo>
                  <a:pt x="2731164"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2" id="22"/>
          <p:cNvSpPr/>
          <p:nvPr/>
        </p:nvSpPr>
        <p:spPr>
          <a:xfrm flipH="true" flipV="false" rot="0">
            <a:off x="16284782" y="1639599"/>
            <a:ext cx="1335479" cy="388503"/>
          </a:xfrm>
          <a:custGeom>
            <a:avLst/>
            <a:gdLst/>
            <a:ahLst/>
            <a:cxnLst/>
            <a:rect r="r" b="b" t="t" l="l"/>
            <a:pathLst>
              <a:path h="388503" w="1335479">
                <a:moveTo>
                  <a:pt x="1335479" y="0"/>
                </a:moveTo>
                <a:lnTo>
                  <a:pt x="0" y="0"/>
                </a:lnTo>
                <a:lnTo>
                  <a:pt x="0" y="388503"/>
                </a:lnTo>
                <a:lnTo>
                  <a:pt x="1335479" y="388503"/>
                </a:lnTo>
                <a:lnTo>
                  <a:pt x="1335479"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3" id="23"/>
          <p:cNvSpPr/>
          <p:nvPr/>
        </p:nvSpPr>
        <p:spPr>
          <a:xfrm flipH="true" flipV="false" rot="0">
            <a:off x="5684419" y="4559828"/>
            <a:ext cx="1335479" cy="388503"/>
          </a:xfrm>
          <a:custGeom>
            <a:avLst/>
            <a:gdLst/>
            <a:ahLst/>
            <a:cxnLst/>
            <a:rect r="r" b="b" t="t" l="l"/>
            <a:pathLst>
              <a:path h="388503" w="1335479">
                <a:moveTo>
                  <a:pt x="1335479" y="0"/>
                </a:moveTo>
                <a:lnTo>
                  <a:pt x="0" y="0"/>
                </a:lnTo>
                <a:lnTo>
                  <a:pt x="0" y="388503"/>
                </a:lnTo>
                <a:lnTo>
                  <a:pt x="1335479" y="388503"/>
                </a:lnTo>
                <a:lnTo>
                  <a:pt x="1335479"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4" id="24"/>
          <p:cNvSpPr txBox="true"/>
          <p:nvPr/>
        </p:nvSpPr>
        <p:spPr>
          <a:xfrm rot="0">
            <a:off x="2110442" y="9302574"/>
            <a:ext cx="6951138" cy="569048"/>
          </a:xfrm>
          <a:prstGeom prst="rect">
            <a:avLst/>
          </a:prstGeom>
        </p:spPr>
        <p:txBody>
          <a:bodyPr anchor="t" rtlCol="false" tIns="0" lIns="0" bIns="0" rIns="0">
            <a:spAutoFit/>
          </a:bodyPr>
          <a:lstStyle/>
          <a:p>
            <a:pPr algn="ctr">
              <a:lnSpc>
                <a:spcPts val="3860"/>
              </a:lnSpc>
            </a:pPr>
            <a:r>
              <a:rPr lang="en-US" sz="4242">
                <a:solidFill>
                  <a:srgbClr val="FFFFFF"/>
                </a:solidFill>
                <a:latin typeface="Childos Arabic"/>
              </a:rPr>
              <a:t>Dela Cruz, Benedict John</a:t>
            </a:r>
          </a:p>
        </p:txBody>
      </p:sp>
      <p:sp>
        <p:nvSpPr>
          <p:cNvPr name="TextBox 25" id="25"/>
          <p:cNvSpPr txBox="true"/>
          <p:nvPr/>
        </p:nvSpPr>
        <p:spPr>
          <a:xfrm rot="0">
            <a:off x="9226419" y="9349425"/>
            <a:ext cx="6951138" cy="569048"/>
          </a:xfrm>
          <a:prstGeom prst="rect">
            <a:avLst/>
          </a:prstGeom>
        </p:spPr>
        <p:txBody>
          <a:bodyPr anchor="t" rtlCol="false" tIns="0" lIns="0" bIns="0" rIns="0">
            <a:spAutoFit/>
          </a:bodyPr>
          <a:lstStyle/>
          <a:p>
            <a:pPr algn="ctr">
              <a:lnSpc>
                <a:spcPts val="3860"/>
              </a:lnSpc>
            </a:pPr>
            <a:r>
              <a:rPr lang="en-US" sz="4242">
                <a:solidFill>
                  <a:srgbClr val="FFFFFF"/>
                </a:solidFill>
                <a:latin typeface="Childos Arabic"/>
              </a:rPr>
              <a:t>Olmedo, Kyle Dominic</a:t>
            </a:r>
          </a:p>
        </p:txBody>
      </p:sp>
      <p:sp>
        <p:nvSpPr>
          <p:cNvPr name="Freeform 26" id="26"/>
          <p:cNvSpPr/>
          <p:nvPr/>
        </p:nvSpPr>
        <p:spPr>
          <a:xfrm flipH="false" flipV="false" rot="0">
            <a:off x="14271818" y="6087326"/>
            <a:ext cx="1689073" cy="2425562"/>
          </a:xfrm>
          <a:custGeom>
            <a:avLst/>
            <a:gdLst/>
            <a:ahLst/>
            <a:cxnLst/>
            <a:rect r="r" b="b" t="t" l="l"/>
            <a:pathLst>
              <a:path h="2425562" w="1689073">
                <a:moveTo>
                  <a:pt x="0" y="0"/>
                </a:moveTo>
                <a:lnTo>
                  <a:pt x="1689073" y="0"/>
                </a:lnTo>
                <a:lnTo>
                  <a:pt x="1689073" y="2425562"/>
                </a:lnTo>
                <a:lnTo>
                  <a:pt x="0" y="242556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grpSp>
        <p:nvGrpSpPr>
          <p:cNvPr name="Group 2" id="2"/>
          <p:cNvGrpSpPr/>
          <p:nvPr/>
        </p:nvGrpSpPr>
        <p:grpSpPr>
          <a:xfrm rot="0">
            <a:off x="0" y="9131115"/>
            <a:ext cx="18288000" cy="1155885"/>
            <a:chOff x="0" y="0"/>
            <a:chExt cx="4816593" cy="304430"/>
          </a:xfrm>
        </p:grpSpPr>
        <p:sp>
          <p:nvSpPr>
            <p:cNvPr name="Freeform 3" id="3"/>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28286"/>
            </a:solidFill>
          </p:spPr>
        </p:sp>
        <p:sp>
          <p:nvSpPr>
            <p:cNvPr name="TextBox 4" id="4"/>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4529" y="1155885"/>
            <a:ext cx="8617637" cy="7975231"/>
          </a:xfrm>
          <a:custGeom>
            <a:avLst/>
            <a:gdLst/>
            <a:ahLst/>
            <a:cxnLst/>
            <a:rect r="r" b="b" t="t" l="l"/>
            <a:pathLst>
              <a:path h="7975231" w="8617637">
                <a:moveTo>
                  <a:pt x="0" y="0"/>
                </a:moveTo>
                <a:lnTo>
                  <a:pt x="8617637" y="0"/>
                </a:lnTo>
                <a:lnTo>
                  <a:pt x="8617637" y="7975230"/>
                </a:lnTo>
                <a:lnTo>
                  <a:pt x="0" y="79752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8782166" y="3683094"/>
            <a:ext cx="8806639" cy="2530287"/>
          </a:xfrm>
          <a:prstGeom prst="rect">
            <a:avLst/>
          </a:prstGeom>
        </p:spPr>
        <p:txBody>
          <a:bodyPr anchor="t" rtlCol="false" tIns="0" lIns="0" bIns="0" rIns="0">
            <a:spAutoFit/>
          </a:bodyPr>
          <a:lstStyle/>
          <a:p>
            <a:pPr algn="ctr" marL="0" indent="0" lvl="0">
              <a:lnSpc>
                <a:spcPts val="19662"/>
              </a:lnSpc>
              <a:spcBef>
                <a:spcPct val="0"/>
              </a:spcBef>
            </a:pPr>
            <a:r>
              <a:rPr lang="en-US" sz="14044">
                <a:solidFill>
                  <a:srgbClr val="9B5935"/>
                </a:solidFill>
                <a:latin typeface="Cubao Narrow"/>
              </a:rPr>
              <a:t>Introduction</a:t>
            </a:r>
          </a:p>
        </p:txBody>
      </p:sp>
      <p:sp>
        <p:nvSpPr>
          <p:cNvPr name="Freeform 7" id="7"/>
          <p:cNvSpPr/>
          <p:nvPr/>
        </p:nvSpPr>
        <p:spPr>
          <a:xfrm flipH="true" flipV="false" rot="0">
            <a:off x="8818911" y="1059604"/>
            <a:ext cx="2806748" cy="816509"/>
          </a:xfrm>
          <a:custGeom>
            <a:avLst/>
            <a:gdLst/>
            <a:ahLst/>
            <a:cxnLst/>
            <a:rect r="r" b="b" t="t" l="l"/>
            <a:pathLst>
              <a:path h="816509" w="2806748">
                <a:moveTo>
                  <a:pt x="2806749" y="0"/>
                </a:moveTo>
                <a:lnTo>
                  <a:pt x="0" y="0"/>
                </a:lnTo>
                <a:lnTo>
                  <a:pt x="0" y="816509"/>
                </a:lnTo>
                <a:lnTo>
                  <a:pt x="2806749" y="816509"/>
                </a:lnTo>
                <a:lnTo>
                  <a:pt x="280674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11625660" y="2373159"/>
            <a:ext cx="1983094" cy="576900"/>
          </a:xfrm>
          <a:custGeom>
            <a:avLst/>
            <a:gdLst/>
            <a:ahLst/>
            <a:cxnLst/>
            <a:rect r="r" b="b" t="t" l="l"/>
            <a:pathLst>
              <a:path h="576900" w="1983094">
                <a:moveTo>
                  <a:pt x="1983094" y="0"/>
                </a:moveTo>
                <a:lnTo>
                  <a:pt x="0" y="0"/>
                </a:lnTo>
                <a:lnTo>
                  <a:pt x="0" y="576900"/>
                </a:lnTo>
                <a:lnTo>
                  <a:pt x="1983094" y="576900"/>
                </a:lnTo>
                <a:lnTo>
                  <a:pt x="19830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4022654" y="747630"/>
            <a:ext cx="5587756" cy="1625529"/>
          </a:xfrm>
          <a:custGeom>
            <a:avLst/>
            <a:gdLst/>
            <a:ahLst/>
            <a:cxnLst/>
            <a:rect r="r" b="b" t="t" l="l"/>
            <a:pathLst>
              <a:path h="1625529" w="5587756">
                <a:moveTo>
                  <a:pt x="5587756" y="0"/>
                </a:moveTo>
                <a:lnTo>
                  <a:pt x="0" y="0"/>
                </a:lnTo>
                <a:lnTo>
                  <a:pt x="0" y="1625529"/>
                </a:lnTo>
                <a:lnTo>
                  <a:pt x="5587756" y="1625529"/>
                </a:lnTo>
                <a:lnTo>
                  <a:pt x="558775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469295" y="1796259"/>
            <a:ext cx="1983094" cy="576900"/>
          </a:xfrm>
          <a:custGeom>
            <a:avLst/>
            <a:gdLst/>
            <a:ahLst/>
            <a:cxnLst/>
            <a:rect r="r" b="b" t="t" l="l"/>
            <a:pathLst>
              <a:path h="576900" w="1983094">
                <a:moveTo>
                  <a:pt x="1983093" y="0"/>
                </a:moveTo>
                <a:lnTo>
                  <a:pt x="0" y="0"/>
                </a:lnTo>
                <a:lnTo>
                  <a:pt x="0" y="576900"/>
                </a:lnTo>
                <a:lnTo>
                  <a:pt x="1983093" y="576900"/>
                </a:lnTo>
                <a:lnTo>
                  <a:pt x="198309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0">
            <a:off x="5536925" y="451800"/>
            <a:ext cx="1983094" cy="576900"/>
          </a:xfrm>
          <a:custGeom>
            <a:avLst/>
            <a:gdLst/>
            <a:ahLst/>
            <a:cxnLst/>
            <a:rect r="r" b="b" t="t" l="l"/>
            <a:pathLst>
              <a:path h="576900" w="1983094">
                <a:moveTo>
                  <a:pt x="1983094" y="0"/>
                </a:moveTo>
                <a:lnTo>
                  <a:pt x="0" y="0"/>
                </a:lnTo>
                <a:lnTo>
                  <a:pt x="0" y="576900"/>
                </a:lnTo>
                <a:lnTo>
                  <a:pt x="1983094" y="576900"/>
                </a:lnTo>
                <a:lnTo>
                  <a:pt x="19830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grpSp>
        <p:nvGrpSpPr>
          <p:cNvPr name="Group 2" id="2"/>
          <p:cNvGrpSpPr/>
          <p:nvPr/>
        </p:nvGrpSpPr>
        <p:grpSpPr>
          <a:xfrm rot="0">
            <a:off x="0" y="9131115"/>
            <a:ext cx="18288000" cy="1155885"/>
            <a:chOff x="0" y="0"/>
            <a:chExt cx="4816593" cy="304430"/>
          </a:xfrm>
        </p:grpSpPr>
        <p:sp>
          <p:nvSpPr>
            <p:cNvPr name="Freeform 3" id="3"/>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28286"/>
            </a:solidFill>
          </p:spPr>
        </p:sp>
        <p:sp>
          <p:nvSpPr>
            <p:cNvPr name="TextBox 4" id="4"/>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555156" y="5997579"/>
            <a:ext cx="3239109" cy="3711479"/>
          </a:xfrm>
          <a:custGeom>
            <a:avLst/>
            <a:gdLst/>
            <a:ahLst/>
            <a:cxnLst/>
            <a:rect r="r" b="b" t="t" l="l"/>
            <a:pathLst>
              <a:path h="3711479" w="3239109">
                <a:moveTo>
                  <a:pt x="0" y="0"/>
                </a:moveTo>
                <a:lnTo>
                  <a:pt x="3239109" y="0"/>
                </a:lnTo>
                <a:lnTo>
                  <a:pt x="3239109" y="3711479"/>
                </a:lnTo>
                <a:lnTo>
                  <a:pt x="0" y="3711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7507273" y="895004"/>
            <a:ext cx="3003976" cy="873884"/>
          </a:xfrm>
          <a:custGeom>
            <a:avLst/>
            <a:gdLst/>
            <a:ahLst/>
            <a:cxnLst/>
            <a:rect r="r" b="b" t="t" l="l"/>
            <a:pathLst>
              <a:path h="873884" w="3003976">
                <a:moveTo>
                  <a:pt x="3003976" y="0"/>
                </a:moveTo>
                <a:lnTo>
                  <a:pt x="0" y="0"/>
                </a:lnTo>
                <a:lnTo>
                  <a:pt x="0" y="873883"/>
                </a:lnTo>
                <a:lnTo>
                  <a:pt x="3003976" y="873883"/>
                </a:lnTo>
                <a:lnTo>
                  <a:pt x="300397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5757312" y="1768887"/>
            <a:ext cx="3003976" cy="873884"/>
          </a:xfrm>
          <a:custGeom>
            <a:avLst/>
            <a:gdLst/>
            <a:ahLst/>
            <a:cxnLst/>
            <a:rect r="r" b="b" t="t" l="l"/>
            <a:pathLst>
              <a:path h="873884" w="3003976">
                <a:moveTo>
                  <a:pt x="3003976" y="0"/>
                </a:moveTo>
                <a:lnTo>
                  <a:pt x="0" y="0"/>
                </a:lnTo>
                <a:lnTo>
                  <a:pt x="0" y="873884"/>
                </a:lnTo>
                <a:lnTo>
                  <a:pt x="3003976" y="873884"/>
                </a:lnTo>
                <a:lnTo>
                  <a:pt x="300397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117310" y="561619"/>
            <a:ext cx="2292021" cy="666770"/>
          </a:xfrm>
          <a:custGeom>
            <a:avLst/>
            <a:gdLst/>
            <a:ahLst/>
            <a:cxnLst/>
            <a:rect r="r" b="b" t="t" l="l"/>
            <a:pathLst>
              <a:path h="666770" w="2292021">
                <a:moveTo>
                  <a:pt x="2292020" y="0"/>
                </a:moveTo>
                <a:lnTo>
                  <a:pt x="0" y="0"/>
                </a:lnTo>
                <a:lnTo>
                  <a:pt x="0" y="666769"/>
                </a:lnTo>
                <a:lnTo>
                  <a:pt x="2292020" y="666769"/>
                </a:lnTo>
                <a:lnTo>
                  <a:pt x="229202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3794265" y="3614032"/>
            <a:ext cx="13465035" cy="2690947"/>
          </a:xfrm>
          <a:prstGeom prst="rect">
            <a:avLst/>
          </a:prstGeom>
        </p:spPr>
        <p:txBody>
          <a:bodyPr anchor="t" rtlCol="false" tIns="0" lIns="0" bIns="0" rIns="0">
            <a:spAutoFit/>
          </a:bodyPr>
          <a:lstStyle/>
          <a:p>
            <a:pPr algn="ctr">
              <a:lnSpc>
                <a:spcPts val="5099"/>
              </a:lnSpc>
            </a:pPr>
            <a:r>
              <a:rPr lang="en-US" sz="5603">
                <a:solidFill>
                  <a:srgbClr val="000000"/>
                </a:solidFill>
                <a:latin typeface="Childos Arabic"/>
              </a:rPr>
              <a:t>In today’s business climate, efficient profit and loss management and inventory management are crucial for the </a:t>
            </a:r>
            <a:r>
              <a:rPr lang="en-US" sz="5603">
                <a:solidFill>
                  <a:srgbClr val="327214"/>
                </a:solidFill>
                <a:latin typeface="Childos Arabic"/>
              </a:rPr>
              <a:t>sustainability of a business.</a:t>
            </a:r>
          </a:p>
        </p:txBody>
      </p:sp>
      <p:sp>
        <p:nvSpPr>
          <p:cNvPr name="TextBox 10" id="10"/>
          <p:cNvSpPr txBox="true"/>
          <p:nvPr/>
        </p:nvSpPr>
        <p:spPr>
          <a:xfrm rot="0">
            <a:off x="7507273" y="4021367"/>
            <a:ext cx="2852662" cy="671012"/>
          </a:xfrm>
          <a:prstGeom prst="rect">
            <a:avLst/>
          </a:prstGeom>
        </p:spPr>
        <p:txBody>
          <a:bodyPr anchor="t" rtlCol="false" tIns="0" lIns="0" bIns="0" rIns="0">
            <a:spAutoFit/>
          </a:bodyPr>
          <a:lstStyle/>
          <a:p>
            <a:pPr algn="ctr">
              <a:lnSpc>
                <a:spcPts val="4576"/>
              </a:lnSpc>
            </a:pPr>
            <a:r>
              <a:rPr lang="en-US" sz="5029">
                <a:solidFill>
                  <a:srgbClr val="000000"/>
                </a:solidFill>
                <a:latin typeface="Childos Arabic"/>
              </a:rPr>
              <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grpSp>
        <p:nvGrpSpPr>
          <p:cNvPr name="Group 2" id="2"/>
          <p:cNvGrpSpPr/>
          <p:nvPr/>
        </p:nvGrpSpPr>
        <p:grpSpPr>
          <a:xfrm rot="0">
            <a:off x="0" y="9131115"/>
            <a:ext cx="18288000" cy="1155885"/>
            <a:chOff x="0" y="0"/>
            <a:chExt cx="4816593" cy="304430"/>
          </a:xfrm>
        </p:grpSpPr>
        <p:sp>
          <p:nvSpPr>
            <p:cNvPr name="Freeform 3" id="3"/>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28286"/>
            </a:solidFill>
          </p:spPr>
        </p:sp>
        <p:sp>
          <p:nvSpPr>
            <p:cNvPr name="TextBox 4" id="4"/>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true" flipV="false" rot="0">
            <a:off x="7642012" y="154816"/>
            <a:ext cx="3003976" cy="873884"/>
          </a:xfrm>
          <a:custGeom>
            <a:avLst/>
            <a:gdLst/>
            <a:ahLst/>
            <a:cxnLst/>
            <a:rect r="r" b="b" t="t" l="l"/>
            <a:pathLst>
              <a:path h="873884" w="3003976">
                <a:moveTo>
                  <a:pt x="3003976" y="0"/>
                </a:moveTo>
                <a:lnTo>
                  <a:pt x="0" y="0"/>
                </a:lnTo>
                <a:lnTo>
                  <a:pt x="0" y="873884"/>
                </a:lnTo>
                <a:lnTo>
                  <a:pt x="3003976" y="873884"/>
                </a:lnTo>
                <a:lnTo>
                  <a:pt x="300397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5845249" y="458062"/>
            <a:ext cx="3003976" cy="873884"/>
          </a:xfrm>
          <a:custGeom>
            <a:avLst/>
            <a:gdLst/>
            <a:ahLst/>
            <a:cxnLst/>
            <a:rect r="r" b="b" t="t" l="l"/>
            <a:pathLst>
              <a:path h="873884" w="3003976">
                <a:moveTo>
                  <a:pt x="3003975" y="0"/>
                </a:moveTo>
                <a:lnTo>
                  <a:pt x="0" y="0"/>
                </a:lnTo>
                <a:lnTo>
                  <a:pt x="0" y="873883"/>
                </a:lnTo>
                <a:lnTo>
                  <a:pt x="3003975" y="873883"/>
                </a:lnTo>
                <a:lnTo>
                  <a:pt x="30039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17310" y="561619"/>
            <a:ext cx="2292021" cy="666770"/>
          </a:xfrm>
          <a:custGeom>
            <a:avLst/>
            <a:gdLst/>
            <a:ahLst/>
            <a:cxnLst/>
            <a:rect r="r" b="b" t="t" l="l"/>
            <a:pathLst>
              <a:path h="666770" w="2292021">
                <a:moveTo>
                  <a:pt x="2292020" y="0"/>
                </a:moveTo>
                <a:lnTo>
                  <a:pt x="0" y="0"/>
                </a:lnTo>
                <a:lnTo>
                  <a:pt x="0" y="666769"/>
                </a:lnTo>
                <a:lnTo>
                  <a:pt x="2292020" y="666769"/>
                </a:lnTo>
                <a:lnTo>
                  <a:pt x="229202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623180" y="1709659"/>
            <a:ext cx="13868703" cy="5319212"/>
          </a:xfrm>
          <a:prstGeom prst="rect">
            <a:avLst/>
          </a:prstGeom>
        </p:spPr>
        <p:txBody>
          <a:bodyPr anchor="t" rtlCol="false" tIns="0" lIns="0" bIns="0" rIns="0">
            <a:spAutoFit/>
          </a:bodyPr>
          <a:lstStyle/>
          <a:p>
            <a:pPr algn="just">
              <a:lnSpc>
                <a:spcPts val="4576"/>
              </a:lnSpc>
            </a:pPr>
            <a:r>
              <a:rPr lang="en-US" sz="5029">
                <a:solidFill>
                  <a:srgbClr val="000000"/>
                </a:solidFill>
                <a:latin typeface="Childos Arabic"/>
              </a:rPr>
              <a:t>From the study regarding accounting practices on sari-sari stores, published in October 2018, </a:t>
            </a:r>
          </a:p>
          <a:p>
            <a:pPr algn="just">
              <a:lnSpc>
                <a:spcPts val="4576"/>
              </a:lnSpc>
            </a:pPr>
            <a:r>
              <a:rPr lang="en-US" sz="5029">
                <a:solidFill>
                  <a:srgbClr val="000000"/>
                </a:solidFill>
                <a:latin typeface="Childos Arabic"/>
              </a:rPr>
              <a:t>the majority of the respondents favored </a:t>
            </a:r>
            <a:r>
              <a:rPr lang="en-US" sz="5029">
                <a:solidFill>
                  <a:srgbClr val="A91800"/>
                </a:solidFill>
                <a:latin typeface="Childos Arabic"/>
              </a:rPr>
              <a:t>manual methods to bookkeep over computerized ones </a:t>
            </a:r>
            <a:r>
              <a:rPr lang="en-US" sz="5029">
                <a:solidFill>
                  <a:srgbClr val="000000"/>
                </a:solidFill>
                <a:latin typeface="Childos Arabic"/>
              </a:rPr>
              <a:t>because:</a:t>
            </a:r>
          </a:p>
          <a:p>
            <a:pPr algn="just">
              <a:lnSpc>
                <a:spcPts val="4576"/>
              </a:lnSpc>
            </a:pPr>
          </a:p>
          <a:p>
            <a:pPr algn="just" marL="1085872" indent="-542936" lvl="1">
              <a:lnSpc>
                <a:spcPts val="4576"/>
              </a:lnSpc>
              <a:buFont typeface="Arial"/>
              <a:buChar char="•"/>
            </a:pPr>
            <a:r>
              <a:rPr lang="en-US" sz="5029">
                <a:solidFill>
                  <a:srgbClr val="000000"/>
                </a:solidFill>
                <a:latin typeface="Childos Arabic"/>
              </a:rPr>
              <a:t>Low Cost</a:t>
            </a:r>
          </a:p>
          <a:p>
            <a:pPr algn="just">
              <a:lnSpc>
                <a:spcPts val="4576"/>
              </a:lnSpc>
            </a:pPr>
          </a:p>
          <a:p>
            <a:pPr algn="just" marL="1085872" indent="-542936" lvl="1">
              <a:lnSpc>
                <a:spcPts val="4576"/>
              </a:lnSpc>
              <a:buFont typeface="Arial"/>
              <a:buChar char="•"/>
            </a:pPr>
            <a:r>
              <a:rPr lang="en-US" sz="5029">
                <a:solidFill>
                  <a:srgbClr val="000000"/>
                </a:solidFill>
                <a:latin typeface="Childos Arabic"/>
              </a:rPr>
              <a:t>E</a:t>
            </a:r>
            <a:r>
              <a:rPr lang="en-US" sz="5029">
                <a:solidFill>
                  <a:srgbClr val="000000"/>
                </a:solidFill>
                <a:latin typeface="Childos Arabic"/>
              </a:rPr>
              <a:t>ase of Use </a:t>
            </a:r>
          </a:p>
        </p:txBody>
      </p:sp>
      <p:sp>
        <p:nvSpPr>
          <p:cNvPr name="TextBox 9" id="9"/>
          <p:cNvSpPr txBox="true"/>
          <p:nvPr/>
        </p:nvSpPr>
        <p:spPr>
          <a:xfrm rot="0">
            <a:off x="7507273" y="4021367"/>
            <a:ext cx="2852662" cy="671012"/>
          </a:xfrm>
          <a:prstGeom prst="rect">
            <a:avLst/>
          </a:prstGeom>
        </p:spPr>
        <p:txBody>
          <a:bodyPr anchor="t" rtlCol="false" tIns="0" lIns="0" bIns="0" rIns="0">
            <a:spAutoFit/>
          </a:bodyPr>
          <a:lstStyle/>
          <a:p>
            <a:pPr algn="ctr">
              <a:lnSpc>
                <a:spcPts val="4576"/>
              </a:lnSpc>
            </a:pPr>
            <a:r>
              <a:rPr lang="en-US" sz="5029">
                <a:solidFill>
                  <a:srgbClr val="000000"/>
                </a:solidFill>
                <a:latin typeface="Childos Arabic"/>
              </a:rPr>
              <a:t>.</a:t>
            </a:r>
          </a:p>
        </p:txBody>
      </p:sp>
      <p:sp>
        <p:nvSpPr>
          <p:cNvPr name="Freeform 10" id="10"/>
          <p:cNvSpPr/>
          <p:nvPr/>
        </p:nvSpPr>
        <p:spPr>
          <a:xfrm flipH="false" flipV="false" rot="0">
            <a:off x="13591438" y="5149994"/>
            <a:ext cx="4926296" cy="4559063"/>
          </a:xfrm>
          <a:custGeom>
            <a:avLst/>
            <a:gdLst/>
            <a:ahLst/>
            <a:cxnLst/>
            <a:rect r="r" b="b" t="t" l="l"/>
            <a:pathLst>
              <a:path h="4559063" w="4926296">
                <a:moveTo>
                  <a:pt x="0" y="0"/>
                </a:moveTo>
                <a:lnTo>
                  <a:pt x="4926297" y="0"/>
                </a:lnTo>
                <a:lnTo>
                  <a:pt x="4926297" y="4559064"/>
                </a:lnTo>
                <a:lnTo>
                  <a:pt x="0" y="45590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grpSp>
        <p:nvGrpSpPr>
          <p:cNvPr name="Group 2" id="2"/>
          <p:cNvGrpSpPr/>
          <p:nvPr/>
        </p:nvGrpSpPr>
        <p:grpSpPr>
          <a:xfrm rot="0">
            <a:off x="0" y="9131115"/>
            <a:ext cx="18288000" cy="1155885"/>
            <a:chOff x="0" y="0"/>
            <a:chExt cx="4816593" cy="304430"/>
          </a:xfrm>
        </p:grpSpPr>
        <p:sp>
          <p:nvSpPr>
            <p:cNvPr name="Freeform 3" id="3"/>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28286"/>
            </a:solidFill>
          </p:spPr>
        </p:sp>
        <p:sp>
          <p:nvSpPr>
            <p:cNvPr name="TextBox 4" id="4"/>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555156" y="5997579"/>
            <a:ext cx="3239109" cy="3711479"/>
          </a:xfrm>
          <a:custGeom>
            <a:avLst/>
            <a:gdLst/>
            <a:ahLst/>
            <a:cxnLst/>
            <a:rect r="r" b="b" t="t" l="l"/>
            <a:pathLst>
              <a:path h="3711479" w="3239109">
                <a:moveTo>
                  <a:pt x="0" y="0"/>
                </a:moveTo>
                <a:lnTo>
                  <a:pt x="3239109" y="0"/>
                </a:lnTo>
                <a:lnTo>
                  <a:pt x="3239109" y="3711479"/>
                </a:lnTo>
                <a:lnTo>
                  <a:pt x="0" y="3711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7507273" y="895004"/>
            <a:ext cx="3003976" cy="873884"/>
          </a:xfrm>
          <a:custGeom>
            <a:avLst/>
            <a:gdLst/>
            <a:ahLst/>
            <a:cxnLst/>
            <a:rect r="r" b="b" t="t" l="l"/>
            <a:pathLst>
              <a:path h="873884" w="3003976">
                <a:moveTo>
                  <a:pt x="3003976" y="0"/>
                </a:moveTo>
                <a:lnTo>
                  <a:pt x="0" y="0"/>
                </a:lnTo>
                <a:lnTo>
                  <a:pt x="0" y="873883"/>
                </a:lnTo>
                <a:lnTo>
                  <a:pt x="3003976" y="873883"/>
                </a:lnTo>
                <a:lnTo>
                  <a:pt x="300397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5757312" y="1768887"/>
            <a:ext cx="3003976" cy="873884"/>
          </a:xfrm>
          <a:custGeom>
            <a:avLst/>
            <a:gdLst/>
            <a:ahLst/>
            <a:cxnLst/>
            <a:rect r="r" b="b" t="t" l="l"/>
            <a:pathLst>
              <a:path h="873884" w="3003976">
                <a:moveTo>
                  <a:pt x="3003976" y="0"/>
                </a:moveTo>
                <a:lnTo>
                  <a:pt x="0" y="0"/>
                </a:lnTo>
                <a:lnTo>
                  <a:pt x="0" y="873884"/>
                </a:lnTo>
                <a:lnTo>
                  <a:pt x="3003976" y="873884"/>
                </a:lnTo>
                <a:lnTo>
                  <a:pt x="300397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117310" y="561619"/>
            <a:ext cx="2292021" cy="666770"/>
          </a:xfrm>
          <a:custGeom>
            <a:avLst/>
            <a:gdLst/>
            <a:ahLst/>
            <a:cxnLst/>
            <a:rect r="r" b="b" t="t" l="l"/>
            <a:pathLst>
              <a:path h="666770" w="2292021">
                <a:moveTo>
                  <a:pt x="2292020" y="0"/>
                </a:moveTo>
                <a:lnTo>
                  <a:pt x="0" y="0"/>
                </a:lnTo>
                <a:lnTo>
                  <a:pt x="0" y="666769"/>
                </a:lnTo>
                <a:lnTo>
                  <a:pt x="2292020" y="666769"/>
                </a:lnTo>
                <a:lnTo>
                  <a:pt x="229202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3028012" y="2080398"/>
            <a:ext cx="12954303" cy="5319212"/>
          </a:xfrm>
          <a:prstGeom prst="rect">
            <a:avLst/>
          </a:prstGeom>
        </p:spPr>
        <p:txBody>
          <a:bodyPr anchor="t" rtlCol="false" tIns="0" lIns="0" bIns="0" rIns="0">
            <a:spAutoFit/>
          </a:bodyPr>
          <a:lstStyle/>
          <a:p>
            <a:pPr algn="ctr">
              <a:lnSpc>
                <a:spcPts val="4576"/>
              </a:lnSpc>
            </a:pPr>
            <a:r>
              <a:rPr lang="en-US" sz="5029">
                <a:solidFill>
                  <a:srgbClr val="000000"/>
                </a:solidFill>
                <a:latin typeface="Childos Arabic"/>
              </a:rPr>
              <a:t>Some business owners track the inventory of their products through mental footnotes and paper which could be </a:t>
            </a:r>
            <a:r>
              <a:rPr lang="en-US" sz="5029">
                <a:solidFill>
                  <a:srgbClr val="A91800"/>
                </a:solidFill>
                <a:latin typeface="Childos Arabic"/>
              </a:rPr>
              <a:t>susceptible to error</a:t>
            </a:r>
            <a:r>
              <a:rPr lang="en-US" sz="5029">
                <a:solidFill>
                  <a:srgbClr val="000000"/>
                </a:solidFill>
                <a:latin typeface="Childos Arabic"/>
              </a:rPr>
              <a:t> and could lead to a situation where the product is unavailable when it is in demand, among other problems that arise with poor product tracking.</a:t>
            </a:r>
          </a:p>
          <a:p>
            <a:pPr algn="ctr">
              <a:lnSpc>
                <a:spcPts val="4576"/>
              </a:lnSpc>
            </a:pPr>
          </a:p>
          <a:p>
            <a:pPr algn="ctr">
              <a:lnSpc>
                <a:spcPts val="4576"/>
              </a:lnSpc>
            </a:pPr>
            <a:r>
              <a:rPr lang="en-US" sz="5029">
                <a:solidFill>
                  <a:srgbClr val="000000"/>
                </a:solidFill>
                <a:latin typeface="Childos Arabic"/>
              </a:rPr>
              <a:t>This will lead the owners to </a:t>
            </a:r>
            <a:r>
              <a:rPr lang="en-US" sz="5029">
                <a:solidFill>
                  <a:srgbClr val="A91800"/>
                </a:solidFill>
                <a:latin typeface="Childos Arabic"/>
              </a:rPr>
              <a:t>make poor decisions for their business</a:t>
            </a:r>
            <a:r>
              <a:rPr lang="en-US" sz="5029">
                <a:solidFill>
                  <a:srgbClr val="000000"/>
                </a:solidFill>
                <a:latin typeface="Childos Arabic"/>
              </a:rPr>
              <a:t>.</a:t>
            </a:r>
          </a:p>
        </p:txBody>
      </p:sp>
      <p:sp>
        <p:nvSpPr>
          <p:cNvPr name="TextBox 10" id="10"/>
          <p:cNvSpPr txBox="true"/>
          <p:nvPr/>
        </p:nvSpPr>
        <p:spPr>
          <a:xfrm rot="0">
            <a:off x="7507273" y="4021367"/>
            <a:ext cx="2852662" cy="671012"/>
          </a:xfrm>
          <a:prstGeom prst="rect">
            <a:avLst/>
          </a:prstGeom>
        </p:spPr>
        <p:txBody>
          <a:bodyPr anchor="t" rtlCol="false" tIns="0" lIns="0" bIns="0" rIns="0">
            <a:spAutoFit/>
          </a:bodyPr>
          <a:lstStyle/>
          <a:p>
            <a:pPr algn="ctr">
              <a:lnSpc>
                <a:spcPts val="4576"/>
              </a:lnSpc>
            </a:pPr>
            <a:r>
              <a:rPr lang="en-US" sz="5029">
                <a:solidFill>
                  <a:srgbClr val="000000"/>
                </a:solidFill>
                <a:latin typeface="Childos Arabic"/>
              </a:rPr>
              <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grpSp>
        <p:nvGrpSpPr>
          <p:cNvPr name="Group 2" id="2"/>
          <p:cNvGrpSpPr/>
          <p:nvPr/>
        </p:nvGrpSpPr>
        <p:grpSpPr>
          <a:xfrm rot="0">
            <a:off x="0" y="9131115"/>
            <a:ext cx="18288000" cy="1155885"/>
            <a:chOff x="0" y="0"/>
            <a:chExt cx="4816593" cy="304430"/>
          </a:xfrm>
        </p:grpSpPr>
        <p:sp>
          <p:nvSpPr>
            <p:cNvPr name="Freeform 3" id="3"/>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28286"/>
            </a:solidFill>
          </p:spPr>
        </p:sp>
        <p:sp>
          <p:nvSpPr>
            <p:cNvPr name="TextBox 4" id="4"/>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4529" y="1155885"/>
            <a:ext cx="8617637" cy="7975231"/>
          </a:xfrm>
          <a:custGeom>
            <a:avLst/>
            <a:gdLst/>
            <a:ahLst/>
            <a:cxnLst/>
            <a:rect r="r" b="b" t="t" l="l"/>
            <a:pathLst>
              <a:path h="7975231" w="8617637">
                <a:moveTo>
                  <a:pt x="0" y="0"/>
                </a:moveTo>
                <a:lnTo>
                  <a:pt x="8617637" y="0"/>
                </a:lnTo>
                <a:lnTo>
                  <a:pt x="8617637" y="7975230"/>
                </a:lnTo>
                <a:lnTo>
                  <a:pt x="0" y="79752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8785007" y="2992146"/>
            <a:ext cx="8537760" cy="1653521"/>
          </a:xfrm>
          <a:prstGeom prst="rect">
            <a:avLst/>
          </a:prstGeom>
        </p:spPr>
        <p:txBody>
          <a:bodyPr anchor="t" rtlCol="false" tIns="0" lIns="0" bIns="0" rIns="0">
            <a:spAutoFit/>
          </a:bodyPr>
          <a:lstStyle/>
          <a:p>
            <a:pPr algn="ctr" marL="0" indent="0" lvl="0">
              <a:lnSpc>
                <a:spcPts val="12831"/>
              </a:lnSpc>
              <a:spcBef>
                <a:spcPct val="0"/>
              </a:spcBef>
            </a:pPr>
            <a:r>
              <a:rPr lang="en-US" sz="9165">
                <a:solidFill>
                  <a:srgbClr val="9B5935"/>
                </a:solidFill>
                <a:latin typeface="Cubao Narrow"/>
              </a:rPr>
              <a:t>Problem </a:t>
            </a:r>
          </a:p>
        </p:txBody>
      </p:sp>
      <p:sp>
        <p:nvSpPr>
          <p:cNvPr name="TextBox 7" id="7"/>
          <p:cNvSpPr txBox="true"/>
          <p:nvPr/>
        </p:nvSpPr>
        <p:spPr>
          <a:xfrm rot="0">
            <a:off x="8491167" y="3814968"/>
            <a:ext cx="9121023" cy="1949178"/>
          </a:xfrm>
          <a:prstGeom prst="rect">
            <a:avLst/>
          </a:prstGeom>
        </p:spPr>
        <p:txBody>
          <a:bodyPr anchor="t" rtlCol="false" tIns="0" lIns="0" bIns="0" rIns="0">
            <a:spAutoFit/>
          </a:bodyPr>
          <a:lstStyle/>
          <a:p>
            <a:pPr algn="ctr" marL="0" indent="0" lvl="0">
              <a:lnSpc>
                <a:spcPts val="15043"/>
              </a:lnSpc>
              <a:spcBef>
                <a:spcPct val="0"/>
              </a:spcBef>
            </a:pPr>
            <a:r>
              <a:rPr lang="en-US" sz="10745">
                <a:solidFill>
                  <a:srgbClr val="AF3222"/>
                </a:solidFill>
                <a:latin typeface="Cubao Narrow"/>
              </a:rPr>
              <a:t>statement</a:t>
            </a:r>
          </a:p>
        </p:txBody>
      </p:sp>
      <p:sp>
        <p:nvSpPr>
          <p:cNvPr name="Freeform 8" id="8"/>
          <p:cNvSpPr/>
          <p:nvPr/>
        </p:nvSpPr>
        <p:spPr>
          <a:xfrm flipH="true" flipV="false" rot="0">
            <a:off x="8818911" y="1059604"/>
            <a:ext cx="2806748" cy="816509"/>
          </a:xfrm>
          <a:custGeom>
            <a:avLst/>
            <a:gdLst/>
            <a:ahLst/>
            <a:cxnLst/>
            <a:rect r="r" b="b" t="t" l="l"/>
            <a:pathLst>
              <a:path h="816509" w="2806748">
                <a:moveTo>
                  <a:pt x="2806749" y="0"/>
                </a:moveTo>
                <a:lnTo>
                  <a:pt x="0" y="0"/>
                </a:lnTo>
                <a:lnTo>
                  <a:pt x="0" y="816509"/>
                </a:lnTo>
                <a:lnTo>
                  <a:pt x="2806749" y="816509"/>
                </a:lnTo>
                <a:lnTo>
                  <a:pt x="280674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1625660" y="2373159"/>
            <a:ext cx="1983094" cy="576900"/>
          </a:xfrm>
          <a:custGeom>
            <a:avLst/>
            <a:gdLst/>
            <a:ahLst/>
            <a:cxnLst/>
            <a:rect r="r" b="b" t="t" l="l"/>
            <a:pathLst>
              <a:path h="576900" w="1983094">
                <a:moveTo>
                  <a:pt x="1983094" y="0"/>
                </a:moveTo>
                <a:lnTo>
                  <a:pt x="0" y="0"/>
                </a:lnTo>
                <a:lnTo>
                  <a:pt x="0" y="576900"/>
                </a:lnTo>
                <a:lnTo>
                  <a:pt x="1983094" y="576900"/>
                </a:lnTo>
                <a:lnTo>
                  <a:pt x="19830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14022654" y="747630"/>
            <a:ext cx="5587756" cy="1625529"/>
          </a:xfrm>
          <a:custGeom>
            <a:avLst/>
            <a:gdLst/>
            <a:ahLst/>
            <a:cxnLst/>
            <a:rect r="r" b="b" t="t" l="l"/>
            <a:pathLst>
              <a:path h="1625529" w="5587756">
                <a:moveTo>
                  <a:pt x="5587756" y="0"/>
                </a:moveTo>
                <a:lnTo>
                  <a:pt x="0" y="0"/>
                </a:lnTo>
                <a:lnTo>
                  <a:pt x="0" y="1625529"/>
                </a:lnTo>
                <a:lnTo>
                  <a:pt x="5587756" y="1625529"/>
                </a:lnTo>
                <a:lnTo>
                  <a:pt x="558775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0">
            <a:off x="-469295" y="1796259"/>
            <a:ext cx="1983094" cy="576900"/>
          </a:xfrm>
          <a:custGeom>
            <a:avLst/>
            <a:gdLst/>
            <a:ahLst/>
            <a:cxnLst/>
            <a:rect r="r" b="b" t="t" l="l"/>
            <a:pathLst>
              <a:path h="576900" w="1983094">
                <a:moveTo>
                  <a:pt x="1983093" y="0"/>
                </a:moveTo>
                <a:lnTo>
                  <a:pt x="0" y="0"/>
                </a:lnTo>
                <a:lnTo>
                  <a:pt x="0" y="576900"/>
                </a:lnTo>
                <a:lnTo>
                  <a:pt x="1983093" y="576900"/>
                </a:lnTo>
                <a:lnTo>
                  <a:pt x="198309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false" rot="0">
            <a:off x="5536925" y="451800"/>
            <a:ext cx="1983094" cy="576900"/>
          </a:xfrm>
          <a:custGeom>
            <a:avLst/>
            <a:gdLst/>
            <a:ahLst/>
            <a:cxnLst/>
            <a:rect r="r" b="b" t="t" l="l"/>
            <a:pathLst>
              <a:path h="576900" w="1983094">
                <a:moveTo>
                  <a:pt x="1983094" y="0"/>
                </a:moveTo>
                <a:lnTo>
                  <a:pt x="0" y="0"/>
                </a:lnTo>
                <a:lnTo>
                  <a:pt x="0" y="576900"/>
                </a:lnTo>
                <a:lnTo>
                  <a:pt x="1983094" y="576900"/>
                </a:lnTo>
                <a:lnTo>
                  <a:pt x="19830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sp>
        <p:nvSpPr>
          <p:cNvPr name="TextBox 2" id="2"/>
          <p:cNvSpPr txBox="true"/>
          <p:nvPr/>
        </p:nvSpPr>
        <p:spPr>
          <a:xfrm rot="0">
            <a:off x="9676190" y="4642316"/>
            <a:ext cx="7482174" cy="4361438"/>
          </a:xfrm>
          <a:prstGeom prst="rect">
            <a:avLst/>
          </a:prstGeom>
        </p:spPr>
        <p:txBody>
          <a:bodyPr anchor="t" rtlCol="false" tIns="0" lIns="0" bIns="0" rIns="0">
            <a:spAutoFit/>
          </a:bodyPr>
          <a:lstStyle/>
          <a:p>
            <a:pPr algn="ctr" marL="0" indent="0" lvl="0">
              <a:lnSpc>
                <a:spcPts val="4211"/>
              </a:lnSpc>
              <a:spcBef>
                <a:spcPct val="0"/>
              </a:spcBef>
            </a:pPr>
            <a:r>
              <a:rPr lang="en-US" sz="4627">
                <a:solidFill>
                  <a:srgbClr val="000000"/>
                </a:solidFill>
                <a:latin typeface="Childos Arabic"/>
              </a:rPr>
              <a:t>Some small business owners could have difficulty tracking the inventory of their products since they could use more sophisticated methods which could be prone to error such as writing it in paper or mental footnotes.</a:t>
            </a:r>
          </a:p>
        </p:txBody>
      </p:sp>
      <p:sp>
        <p:nvSpPr>
          <p:cNvPr name="Freeform 3" id="3"/>
          <p:cNvSpPr/>
          <p:nvPr/>
        </p:nvSpPr>
        <p:spPr>
          <a:xfrm flipH="true" flipV="false" rot="0">
            <a:off x="6640286" y="2434524"/>
            <a:ext cx="2456264" cy="714550"/>
          </a:xfrm>
          <a:custGeom>
            <a:avLst/>
            <a:gdLst/>
            <a:ahLst/>
            <a:cxnLst/>
            <a:rect r="r" b="b" t="t" l="l"/>
            <a:pathLst>
              <a:path h="714550" w="2456264">
                <a:moveTo>
                  <a:pt x="2456264" y="0"/>
                </a:moveTo>
                <a:lnTo>
                  <a:pt x="0" y="0"/>
                </a:lnTo>
                <a:lnTo>
                  <a:pt x="0" y="714550"/>
                </a:lnTo>
                <a:lnTo>
                  <a:pt x="2456264" y="714550"/>
                </a:lnTo>
                <a:lnTo>
                  <a:pt x="245626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9096550" y="2351349"/>
            <a:ext cx="8641454" cy="2387125"/>
          </a:xfrm>
          <a:prstGeom prst="rect">
            <a:avLst/>
          </a:prstGeom>
        </p:spPr>
        <p:txBody>
          <a:bodyPr anchor="t" rtlCol="false" tIns="0" lIns="0" bIns="0" rIns="0">
            <a:spAutoFit/>
          </a:bodyPr>
          <a:lstStyle/>
          <a:p>
            <a:pPr algn="ctr" marL="0" indent="0" lvl="0">
              <a:lnSpc>
                <a:spcPts val="18558"/>
              </a:lnSpc>
              <a:spcBef>
                <a:spcPct val="0"/>
              </a:spcBef>
            </a:pPr>
            <a:r>
              <a:rPr lang="en-US" sz="13256">
                <a:solidFill>
                  <a:srgbClr val="317191"/>
                </a:solidFill>
                <a:latin typeface="Cubao Narrow"/>
              </a:rPr>
              <a:t>statement</a:t>
            </a:r>
          </a:p>
        </p:txBody>
      </p:sp>
      <p:sp>
        <p:nvSpPr>
          <p:cNvPr name="TextBox 5" id="5"/>
          <p:cNvSpPr txBox="true"/>
          <p:nvPr/>
        </p:nvSpPr>
        <p:spPr>
          <a:xfrm rot="0">
            <a:off x="8998692" y="1387572"/>
            <a:ext cx="8837170" cy="1808156"/>
          </a:xfrm>
          <a:prstGeom prst="rect">
            <a:avLst/>
          </a:prstGeom>
        </p:spPr>
        <p:txBody>
          <a:bodyPr anchor="t" rtlCol="false" tIns="0" lIns="0" bIns="0" rIns="0">
            <a:spAutoFit/>
          </a:bodyPr>
          <a:lstStyle/>
          <a:p>
            <a:pPr algn="ctr" marL="0" indent="0" lvl="0">
              <a:lnSpc>
                <a:spcPts val="13998"/>
              </a:lnSpc>
              <a:spcBef>
                <a:spcPct val="0"/>
              </a:spcBef>
            </a:pPr>
            <a:r>
              <a:rPr lang="en-US" sz="9998">
                <a:solidFill>
                  <a:srgbClr val="864F30"/>
                </a:solidFill>
                <a:latin typeface="Cubao"/>
              </a:rPr>
              <a:t>Problem </a:t>
            </a:r>
          </a:p>
        </p:txBody>
      </p:sp>
      <p:grpSp>
        <p:nvGrpSpPr>
          <p:cNvPr name="Group 6" id="6"/>
          <p:cNvGrpSpPr/>
          <p:nvPr/>
        </p:nvGrpSpPr>
        <p:grpSpPr>
          <a:xfrm rot="0">
            <a:off x="0" y="9131115"/>
            <a:ext cx="18288000" cy="1155885"/>
            <a:chOff x="0" y="0"/>
            <a:chExt cx="4816593" cy="304430"/>
          </a:xfrm>
        </p:grpSpPr>
        <p:sp>
          <p:nvSpPr>
            <p:cNvPr name="Freeform 7" id="7"/>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28286"/>
            </a:solidFill>
          </p:spPr>
        </p:sp>
        <p:sp>
          <p:nvSpPr>
            <p:cNvPr name="TextBox 8" id="8"/>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461986" y="1673322"/>
            <a:ext cx="8536706" cy="7745121"/>
          </a:xfrm>
          <a:custGeom>
            <a:avLst/>
            <a:gdLst/>
            <a:ahLst/>
            <a:cxnLst/>
            <a:rect r="r" b="b" t="t" l="l"/>
            <a:pathLst>
              <a:path h="7745121" w="8536706">
                <a:moveTo>
                  <a:pt x="0" y="0"/>
                </a:moveTo>
                <a:lnTo>
                  <a:pt x="8536706" y="0"/>
                </a:lnTo>
                <a:lnTo>
                  <a:pt x="8536706" y="7745121"/>
                </a:lnTo>
                <a:lnTo>
                  <a:pt x="0" y="77451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0" y="2994383"/>
            <a:ext cx="2456264" cy="714550"/>
          </a:xfrm>
          <a:custGeom>
            <a:avLst/>
            <a:gdLst/>
            <a:ahLst/>
            <a:cxnLst/>
            <a:rect r="r" b="b" t="t" l="l"/>
            <a:pathLst>
              <a:path h="714550" w="2456264">
                <a:moveTo>
                  <a:pt x="2456264" y="0"/>
                </a:moveTo>
                <a:lnTo>
                  <a:pt x="0" y="0"/>
                </a:lnTo>
                <a:lnTo>
                  <a:pt x="0" y="714550"/>
                </a:lnTo>
                <a:lnTo>
                  <a:pt x="2456264" y="714550"/>
                </a:lnTo>
                <a:lnTo>
                  <a:pt x="245626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false" rot="0">
            <a:off x="5279683" y="427455"/>
            <a:ext cx="2456264" cy="714550"/>
          </a:xfrm>
          <a:custGeom>
            <a:avLst/>
            <a:gdLst/>
            <a:ahLst/>
            <a:cxnLst/>
            <a:rect r="r" b="b" t="t" l="l"/>
            <a:pathLst>
              <a:path h="714550" w="2456264">
                <a:moveTo>
                  <a:pt x="2456264" y="0"/>
                </a:moveTo>
                <a:lnTo>
                  <a:pt x="0" y="0"/>
                </a:lnTo>
                <a:lnTo>
                  <a:pt x="0" y="714550"/>
                </a:lnTo>
                <a:lnTo>
                  <a:pt x="2456264" y="714550"/>
                </a:lnTo>
                <a:lnTo>
                  <a:pt x="245626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false" rot="0">
            <a:off x="15075219" y="386302"/>
            <a:ext cx="3864515" cy="1124223"/>
          </a:xfrm>
          <a:custGeom>
            <a:avLst/>
            <a:gdLst/>
            <a:ahLst/>
            <a:cxnLst/>
            <a:rect r="r" b="b" t="t" l="l"/>
            <a:pathLst>
              <a:path h="1124223" w="3864515">
                <a:moveTo>
                  <a:pt x="3864515" y="0"/>
                </a:moveTo>
                <a:lnTo>
                  <a:pt x="0" y="0"/>
                </a:lnTo>
                <a:lnTo>
                  <a:pt x="0" y="1124222"/>
                </a:lnTo>
                <a:lnTo>
                  <a:pt x="3864515" y="1124222"/>
                </a:lnTo>
                <a:lnTo>
                  <a:pt x="386451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true" flipV="false" rot="0">
            <a:off x="1963111" y="580133"/>
            <a:ext cx="1265962" cy="368280"/>
          </a:xfrm>
          <a:custGeom>
            <a:avLst/>
            <a:gdLst/>
            <a:ahLst/>
            <a:cxnLst/>
            <a:rect r="r" b="b" t="t" l="l"/>
            <a:pathLst>
              <a:path h="368280" w="1265962">
                <a:moveTo>
                  <a:pt x="1265961" y="0"/>
                </a:moveTo>
                <a:lnTo>
                  <a:pt x="0" y="0"/>
                </a:lnTo>
                <a:lnTo>
                  <a:pt x="0" y="368280"/>
                </a:lnTo>
                <a:lnTo>
                  <a:pt x="1265961" y="368280"/>
                </a:lnTo>
                <a:lnTo>
                  <a:pt x="126596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sp>
        <p:nvSpPr>
          <p:cNvPr name="TextBox 2" id="2"/>
          <p:cNvSpPr txBox="true"/>
          <p:nvPr/>
        </p:nvSpPr>
        <p:spPr>
          <a:xfrm rot="0">
            <a:off x="9676190" y="4814674"/>
            <a:ext cx="7482174" cy="3828038"/>
          </a:xfrm>
          <a:prstGeom prst="rect">
            <a:avLst/>
          </a:prstGeom>
        </p:spPr>
        <p:txBody>
          <a:bodyPr anchor="t" rtlCol="false" tIns="0" lIns="0" bIns="0" rIns="0">
            <a:spAutoFit/>
          </a:bodyPr>
          <a:lstStyle/>
          <a:p>
            <a:pPr algn="ctr" marL="0" indent="0" lvl="0">
              <a:lnSpc>
                <a:spcPts val="4211"/>
              </a:lnSpc>
              <a:spcBef>
                <a:spcPct val="0"/>
              </a:spcBef>
            </a:pPr>
            <a:r>
              <a:rPr lang="en-US" sz="4627">
                <a:solidFill>
                  <a:srgbClr val="000000"/>
                </a:solidFill>
                <a:latin typeface="Childos Arabic"/>
              </a:rPr>
              <a:t>They also could have a difficulty in checking if their products are making a profit since they may use calculations or in some cases, they won’t check for profits and feel if they’re making a profit.</a:t>
            </a:r>
          </a:p>
        </p:txBody>
      </p:sp>
      <p:sp>
        <p:nvSpPr>
          <p:cNvPr name="Freeform 3" id="3"/>
          <p:cNvSpPr/>
          <p:nvPr/>
        </p:nvSpPr>
        <p:spPr>
          <a:xfrm flipH="true" flipV="false" rot="0">
            <a:off x="6640286" y="2434524"/>
            <a:ext cx="2456264" cy="714550"/>
          </a:xfrm>
          <a:custGeom>
            <a:avLst/>
            <a:gdLst/>
            <a:ahLst/>
            <a:cxnLst/>
            <a:rect r="r" b="b" t="t" l="l"/>
            <a:pathLst>
              <a:path h="714550" w="2456264">
                <a:moveTo>
                  <a:pt x="2456264" y="0"/>
                </a:moveTo>
                <a:lnTo>
                  <a:pt x="0" y="0"/>
                </a:lnTo>
                <a:lnTo>
                  <a:pt x="0" y="714550"/>
                </a:lnTo>
                <a:lnTo>
                  <a:pt x="2456264" y="714550"/>
                </a:lnTo>
                <a:lnTo>
                  <a:pt x="245626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9096550" y="2351349"/>
            <a:ext cx="8641454" cy="2387125"/>
          </a:xfrm>
          <a:prstGeom prst="rect">
            <a:avLst/>
          </a:prstGeom>
        </p:spPr>
        <p:txBody>
          <a:bodyPr anchor="t" rtlCol="false" tIns="0" lIns="0" bIns="0" rIns="0">
            <a:spAutoFit/>
          </a:bodyPr>
          <a:lstStyle/>
          <a:p>
            <a:pPr algn="ctr" marL="0" indent="0" lvl="0">
              <a:lnSpc>
                <a:spcPts val="18558"/>
              </a:lnSpc>
              <a:spcBef>
                <a:spcPct val="0"/>
              </a:spcBef>
            </a:pPr>
            <a:r>
              <a:rPr lang="en-US" sz="13256">
                <a:solidFill>
                  <a:srgbClr val="317191"/>
                </a:solidFill>
                <a:latin typeface="Cubao Narrow"/>
              </a:rPr>
              <a:t>statement</a:t>
            </a:r>
          </a:p>
        </p:txBody>
      </p:sp>
      <p:sp>
        <p:nvSpPr>
          <p:cNvPr name="TextBox 5" id="5"/>
          <p:cNvSpPr txBox="true"/>
          <p:nvPr/>
        </p:nvSpPr>
        <p:spPr>
          <a:xfrm rot="0">
            <a:off x="8998692" y="1387572"/>
            <a:ext cx="8837170" cy="1808156"/>
          </a:xfrm>
          <a:prstGeom prst="rect">
            <a:avLst/>
          </a:prstGeom>
        </p:spPr>
        <p:txBody>
          <a:bodyPr anchor="t" rtlCol="false" tIns="0" lIns="0" bIns="0" rIns="0">
            <a:spAutoFit/>
          </a:bodyPr>
          <a:lstStyle/>
          <a:p>
            <a:pPr algn="ctr" marL="0" indent="0" lvl="0">
              <a:lnSpc>
                <a:spcPts val="13998"/>
              </a:lnSpc>
              <a:spcBef>
                <a:spcPct val="0"/>
              </a:spcBef>
            </a:pPr>
            <a:r>
              <a:rPr lang="en-US" sz="9998">
                <a:solidFill>
                  <a:srgbClr val="864F30"/>
                </a:solidFill>
                <a:latin typeface="Cubao"/>
              </a:rPr>
              <a:t>Problem </a:t>
            </a:r>
          </a:p>
        </p:txBody>
      </p:sp>
      <p:grpSp>
        <p:nvGrpSpPr>
          <p:cNvPr name="Group 6" id="6"/>
          <p:cNvGrpSpPr/>
          <p:nvPr/>
        </p:nvGrpSpPr>
        <p:grpSpPr>
          <a:xfrm rot="0">
            <a:off x="0" y="9131115"/>
            <a:ext cx="18288000" cy="1155885"/>
            <a:chOff x="0" y="0"/>
            <a:chExt cx="4816593" cy="304430"/>
          </a:xfrm>
        </p:grpSpPr>
        <p:sp>
          <p:nvSpPr>
            <p:cNvPr name="Freeform 7" id="7"/>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28286"/>
            </a:solidFill>
          </p:spPr>
        </p:sp>
        <p:sp>
          <p:nvSpPr>
            <p:cNvPr name="TextBox 8" id="8"/>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461986" y="1673322"/>
            <a:ext cx="8536706" cy="7745121"/>
          </a:xfrm>
          <a:custGeom>
            <a:avLst/>
            <a:gdLst/>
            <a:ahLst/>
            <a:cxnLst/>
            <a:rect r="r" b="b" t="t" l="l"/>
            <a:pathLst>
              <a:path h="7745121" w="8536706">
                <a:moveTo>
                  <a:pt x="0" y="0"/>
                </a:moveTo>
                <a:lnTo>
                  <a:pt x="8536706" y="0"/>
                </a:lnTo>
                <a:lnTo>
                  <a:pt x="8536706" y="7745121"/>
                </a:lnTo>
                <a:lnTo>
                  <a:pt x="0" y="77451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0" y="2994383"/>
            <a:ext cx="2456264" cy="714550"/>
          </a:xfrm>
          <a:custGeom>
            <a:avLst/>
            <a:gdLst/>
            <a:ahLst/>
            <a:cxnLst/>
            <a:rect r="r" b="b" t="t" l="l"/>
            <a:pathLst>
              <a:path h="714550" w="2456264">
                <a:moveTo>
                  <a:pt x="2456264" y="0"/>
                </a:moveTo>
                <a:lnTo>
                  <a:pt x="0" y="0"/>
                </a:lnTo>
                <a:lnTo>
                  <a:pt x="0" y="714550"/>
                </a:lnTo>
                <a:lnTo>
                  <a:pt x="2456264" y="714550"/>
                </a:lnTo>
                <a:lnTo>
                  <a:pt x="245626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false" rot="0">
            <a:off x="5279683" y="427455"/>
            <a:ext cx="2456264" cy="714550"/>
          </a:xfrm>
          <a:custGeom>
            <a:avLst/>
            <a:gdLst/>
            <a:ahLst/>
            <a:cxnLst/>
            <a:rect r="r" b="b" t="t" l="l"/>
            <a:pathLst>
              <a:path h="714550" w="2456264">
                <a:moveTo>
                  <a:pt x="2456264" y="0"/>
                </a:moveTo>
                <a:lnTo>
                  <a:pt x="0" y="0"/>
                </a:lnTo>
                <a:lnTo>
                  <a:pt x="0" y="714550"/>
                </a:lnTo>
                <a:lnTo>
                  <a:pt x="2456264" y="714550"/>
                </a:lnTo>
                <a:lnTo>
                  <a:pt x="245626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false" rot="0">
            <a:off x="15075219" y="386302"/>
            <a:ext cx="3864515" cy="1124223"/>
          </a:xfrm>
          <a:custGeom>
            <a:avLst/>
            <a:gdLst/>
            <a:ahLst/>
            <a:cxnLst/>
            <a:rect r="r" b="b" t="t" l="l"/>
            <a:pathLst>
              <a:path h="1124223" w="3864515">
                <a:moveTo>
                  <a:pt x="3864515" y="0"/>
                </a:moveTo>
                <a:lnTo>
                  <a:pt x="0" y="0"/>
                </a:lnTo>
                <a:lnTo>
                  <a:pt x="0" y="1124222"/>
                </a:lnTo>
                <a:lnTo>
                  <a:pt x="3864515" y="1124222"/>
                </a:lnTo>
                <a:lnTo>
                  <a:pt x="386451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true" flipV="false" rot="0">
            <a:off x="1963111" y="580133"/>
            <a:ext cx="1265962" cy="368280"/>
          </a:xfrm>
          <a:custGeom>
            <a:avLst/>
            <a:gdLst/>
            <a:ahLst/>
            <a:cxnLst/>
            <a:rect r="r" b="b" t="t" l="l"/>
            <a:pathLst>
              <a:path h="368280" w="1265962">
                <a:moveTo>
                  <a:pt x="1265961" y="0"/>
                </a:moveTo>
                <a:lnTo>
                  <a:pt x="0" y="0"/>
                </a:lnTo>
                <a:lnTo>
                  <a:pt x="0" y="368280"/>
                </a:lnTo>
                <a:lnTo>
                  <a:pt x="1265961" y="368280"/>
                </a:lnTo>
                <a:lnTo>
                  <a:pt x="126596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sp>
        <p:nvSpPr>
          <p:cNvPr name="TextBox 2" id="2"/>
          <p:cNvSpPr txBox="true"/>
          <p:nvPr/>
        </p:nvSpPr>
        <p:spPr>
          <a:xfrm rot="0">
            <a:off x="9676190" y="4814674"/>
            <a:ext cx="7482174" cy="3828038"/>
          </a:xfrm>
          <a:prstGeom prst="rect">
            <a:avLst/>
          </a:prstGeom>
        </p:spPr>
        <p:txBody>
          <a:bodyPr anchor="t" rtlCol="false" tIns="0" lIns="0" bIns="0" rIns="0">
            <a:spAutoFit/>
          </a:bodyPr>
          <a:lstStyle/>
          <a:p>
            <a:pPr algn="ctr" marL="0" indent="0" lvl="0">
              <a:lnSpc>
                <a:spcPts val="4211"/>
              </a:lnSpc>
              <a:spcBef>
                <a:spcPct val="0"/>
              </a:spcBef>
            </a:pPr>
            <a:r>
              <a:rPr lang="en-US" sz="4627">
                <a:solidFill>
                  <a:srgbClr val="000000"/>
                </a:solidFill>
                <a:latin typeface="Childos Arabic"/>
              </a:rPr>
              <a:t>There is a need for a system that could track inventory of items and check for the total revenue, cost, and profit gained from the products to check if the store is making profit or bleeding money.</a:t>
            </a:r>
          </a:p>
        </p:txBody>
      </p:sp>
      <p:sp>
        <p:nvSpPr>
          <p:cNvPr name="Freeform 3" id="3"/>
          <p:cNvSpPr/>
          <p:nvPr/>
        </p:nvSpPr>
        <p:spPr>
          <a:xfrm flipH="true" flipV="false" rot="0">
            <a:off x="6640286" y="2434524"/>
            <a:ext cx="2456264" cy="714550"/>
          </a:xfrm>
          <a:custGeom>
            <a:avLst/>
            <a:gdLst/>
            <a:ahLst/>
            <a:cxnLst/>
            <a:rect r="r" b="b" t="t" l="l"/>
            <a:pathLst>
              <a:path h="714550" w="2456264">
                <a:moveTo>
                  <a:pt x="2456264" y="0"/>
                </a:moveTo>
                <a:lnTo>
                  <a:pt x="0" y="0"/>
                </a:lnTo>
                <a:lnTo>
                  <a:pt x="0" y="714550"/>
                </a:lnTo>
                <a:lnTo>
                  <a:pt x="2456264" y="714550"/>
                </a:lnTo>
                <a:lnTo>
                  <a:pt x="245626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9096550" y="2351349"/>
            <a:ext cx="8641454" cy="2387125"/>
          </a:xfrm>
          <a:prstGeom prst="rect">
            <a:avLst/>
          </a:prstGeom>
        </p:spPr>
        <p:txBody>
          <a:bodyPr anchor="t" rtlCol="false" tIns="0" lIns="0" bIns="0" rIns="0">
            <a:spAutoFit/>
          </a:bodyPr>
          <a:lstStyle/>
          <a:p>
            <a:pPr algn="ctr" marL="0" indent="0" lvl="0">
              <a:lnSpc>
                <a:spcPts val="18558"/>
              </a:lnSpc>
              <a:spcBef>
                <a:spcPct val="0"/>
              </a:spcBef>
            </a:pPr>
            <a:r>
              <a:rPr lang="en-US" sz="13256">
                <a:solidFill>
                  <a:srgbClr val="317191"/>
                </a:solidFill>
                <a:latin typeface="Cubao Narrow"/>
              </a:rPr>
              <a:t>statement</a:t>
            </a:r>
          </a:p>
        </p:txBody>
      </p:sp>
      <p:sp>
        <p:nvSpPr>
          <p:cNvPr name="TextBox 5" id="5"/>
          <p:cNvSpPr txBox="true"/>
          <p:nvPr/>
        </p:nvSpPr>
        <p:spPr>
          <a:xfrm rot="0">
            <a:off x="8998692" y="1387572"/>
            <a:ext cx="8837170" cy="1808156"/>
          </a:xfrm>
          <a:prstGeom prst="rect">
            <a:avLst/>
          </a:prstGeom>
        </p:spPr>
        <p:txBody>
          <a:bodyPr anchor="t" rtlCol="false" tIns="0" lIns="0" bIns="0" rIns="0">
            <a:spAutoFit/>
          </a:bodyPr>
          <a:lstStyle/>
          <a:p>
            <a:pPr algn="ctr" marL="0" indent="0" lvl="0">
              <a:lnSpc>
                <a:spcPts val="13998"/>
              </a:lnSpc>
              <a:spcBef>
                <a:spcPct val="0"/>
              </a:spcBef>
            </a:pPr>
            <a:r>
              <a:rPr lang="en-US" sz="9998">
                <a:solidFill>
                  <a:srgbClr val="864F30"/>
                </a:solidFill>
                <a:latin typeface="Cubao"/>
              </a:rPr>
              <a:t>Problem </a:t>
            </a:r>
          </a:p>
        </p:txBody>
      </p:sp>
      <p:grpSp>
        <p:nvGrpSpPr>
          <p:cNvPr name="Group 6" id="6"/>
          <p:cNvGrpSpPr/>
          <p:nvPr/>
        </p:nvGrpSpPr>
        <p:grpSpPr>
          <a:xfrm rot="0">
            <a:off x="0" y="9131115"/>
            <a:ext cx="18288000" cy="1155885"/>
            <a:chOff x="0" y="0"/>
            <a:chExt cx="4816593" cy="304430"/>
          </a:xfrm>
        </p:grpSpPr>
        <p:sp>
          <p:nvSpPr>
            <p:cNvPr name="Freeform 7" id="7"/>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28286"/>
            </a:solidFill>
          </p:spPr>
        </p:sp>
        <p:sp>
          <p:nvSpPr>
            <p:cNvPr name="TextBox 8" id="8"/>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461986" y="1673322"/>
            <a:ext cx="8536706" cy="7745121"/>
          </a:xfrm>
          <a:custGeom>
            <a:avLst/>
            <a:gdLst/>
            <a:ahLst/>
            <a:cxnLst/>
            <a:rect r="r" b="b" t="t" l="l"/>
            <a:pathLst>
              <a:path h="7745121" w="8536706">
                <a:moveTo>
                  <a:pt x="0" y="0"/>
                </a:moveTo>
                <a:lnTo>
                  <a:pt x="8536706" y="0"/>
                </a:lnTo>
                <a:lnTo>
                  <a:pt x="8536706" y="7745121"/>
                </a:lnTo>
                <a:lnTo>
                  <a:pt x="0" y="77451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0" y="2994383"/>
            <a:ext cx="2456264" cy="714550"/>
          </a:xfrm>
          <a:custGeom>
            <a:avLst/>
            <a:gdLst/>
            <a:ahLst/>
            <a:cxnLst/>
            <a:rect r="r" b="b" t="t" l="l"/>
            <a:pathLst>
              <a:path h="714550" w="2456264">
                <a:moveTo>
                  <a:pt x="2456264" y="0"/>
                </a:moveTo>
                <a:lnTo>
                  <a:pt x="0" y="0"/>
                </a:lnTo>
                <a:lnTo>
                  <a:pt x="0" y="714550"/>
                </a:lnTo>
                <a:lnTo>
                  <a:pt x="2456264" y="714550"/>
                </a:lnTo>
                <a:lnTo>
                  <a:pt x="245626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false" rot="0">
            <a:off x="5279683" y="427455"/>
            <a:ext cx="2456264" cy="714550"/>
          </a:xfrm>
          <a:custGeom>
            <a:avLst/>
            <a:gdLst/>
            <a:ahLst/>
            <a:cxnLst/>
            <a:rect r="r" b="b" t="t" l="l"/>
            <a:pathLst>
              <a:path h="714550" w="2456264">
                <a:moveTo>
                  <a:pt x="2456264" y="0"/>
                </a:moveTo>
                <a:lnTo>
                  <a:pt x="0" y="0"/>
                </a:lnTo>
                <a:lnTo>
                  <a:pt x="0" y="714550"/>
                </a:lnTo>
                <a:lnTo>
                  <a:pt x="2456264" y="714550"/>
                </a:lnTo>
                <a:lnTo>
                  <a:pt x="245626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false" rot="0">
            <a:off x="15075219" y="386302"/>
            <a:ext cx="3864515" cy="1124223"/>
          </a:xfrm>
          <a:custGeom>
            <a:avLst/>
            <a:gdLst/>
            <a:ahLst/>
            <a:cxnLst/>
            <a:rect r="r" b="b" t="t" l="l"/>
            <a:pathLst>
              <a:path h="1124223" w="3864515">
                <a:moveTo>
                  <a:pt x="3864515" y="0"/>
                </a:moveTo>
                <a:lnTo>
                  <a:pt x="0" y="0"/>
                </a:lnTo>
                <a:lnTo>
                  <a:pt x="0" y="1124222"/>
                </a:lnTo>
                <a:lnTo>
                  <a:pt x="3864515" y="1124222"/>
                </a:lnTo>
                <a:lnTo>
                  <a:pt x="386451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true" flipV="false" rot="0">
            <a:off x="1963111" y="580133"/>
            <a:ext cx="1265962" cy="368280"/>
          </a:xfrm>
          <a:custGeom>
            <a:avLst/>
            <a:gdLst/>
            <a:ahLst/>
            <a:cxnLst/>
            <a:rect r="r" b="b" t="t" l="l"/>
            <a:pathLst>
              <a:path h="368280" w="1265962">
                <a:moveTo>
                  <a:pt x="1265961" y="0"/>
                </a:moveTo>
                <a:lnTo>
                  <a:pt x="0" y="0"/>
                </a:lnTo>
                <a:lnTo>
                  <a:pt x="0" y="368280"/>
                </a:lnTo>
                <a:lnTo>
                  <a:pt x="1265961" y="368280"/>
                </a:lnTo>
                <a:lnTo>
                  <a:pt x="126596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9E6C0"/>
        </a:solidFill>
      </p:bgPr>
    </p:bg>
    <p:spTree>
      <p:nvGrpSpPr>
        <p:cNvPr id="1" name=""/>
        <p:cNvGrpSpPr/>
        <p:nvPr/>
      </p:nvGrpSpPr>
      <p:grpSpPr>
        <a:xfrm>
          <a:off x="0" y="0"/>
          <a:ext cx="0" cy="0"/>
          <a:chOff x="0" y="0"/>
          <a:chExt cx="0" cy="0"/>
        </a:xfrm>
      </p:grpSpPr>
      <p:grpSp>
        <p:nvGrpSpPr>
          <p:cNvPr name="Group 2" id="2"/>
          <p:cNvGrpSpPr/>
          <p:nvPr/>
        </p:nvGrpSpPr>
        <p:grpSpPr>
          <a:xfrm rot="0">
            <a:off x="0" y="9131115"/>
            <a:ext cx="18288000" cy="1155885"/>
            <a:chOff x="0" y="0"/>
            <a:chExt cx="4816593" cy="304430"/>
          </a:xfrm>
        </p:grpSpPr>
        <p:sp>
          <p:nvSpPr>
            <p:cNvPr name="Freeform 3" id="3"/>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36312E"/>
            </a:solidFill>
          </p:spPr>
        </p:sp>
        <p:sp>
          <p:nvSpPr>
            <p:cNvPr name="TextBox 4" id="4"/>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7575639" y="5394956"/>
            <a:ext cx="4361684" cy="4314102"/>
          </a:xfrm>
          <a:custGeom>
            <a:avLst/>
            <a:gdLst/>
            <a:ahLst/>
            <a:cxnLst/>
            <a:rect r="r" b="b" t="t" l="l"/>
            <a:pathLst>
              <a:path h="4314102" w="4361684">
                <a:moveTo>
                  <a:pt x="0" y="0"/>
                </a:moveTo>
                <a:lnTo>
                  <a:pt x="4361684" y="0"/>
                </a:lnTo>
                <a:lnTo>
                  <a:pt x="4361684" y="4314102"/>
                </a:lnTo>
                <a:lnTo>
                  <a:pt x="0" y="43141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915131" y="4122360"/>
            <a:ext cx="5106979" cy="5529209"/>
          </a:xfrm>
          <a:custGeom>
            <a:avLst/>
            <a:gdLst/>
            <a:ahLst/>
            <a:cxnLst/>
            <a:rect r="r" b="b" t="t" l="l"/>
            <a:pathLst>
              <a:path h="5529209" w="5106979">
                <a:moveTo>
                  <a:pt x="0" y="0"/>
                </a:moveTo>
                <a:lnTo>
                  <a:pt x="5106979" y="0"/>
                </a:lnTo>
                <a:lnTo>
                  <a:pt x="5106979" y="5529209"/>
                </a:lnTo>
                <a:lnTo>
                  <a:pt x="0" y="55292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2656117" y="4371685"/>
            <a:ext cx="3716752" cy="5337372"/>
          </a:xfrm>
          <a:custGeom>
            <a:avLst/>
            <a:gdLst/>
            <a:ahLst/>
            <a:cxnLst/>
            <a:rect r="r" b="b" t="t" l="l"/>
            <a:pathLst>
              <a:path h="5337372" w="3716752">
                <a:moveTo>
                  <a:pt x="0" y="0"/>
                </a:moveTo>
                <a:lnTo>
                  <a:pt x="3716752" y="0"/>
                </a:lnTo>
                <a:lnTo>
                  <a:pt x="3716752" y="5337373"/>
                </a:lnTo>
                <a:lnTo>
                  <a:pt x="0" y="53373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846619" y="171383"/>
            <a:ext cx="10594762" cy="1803427"/>
          </a:xfrm>
          <a:prstGeom prst="rect">
            <a:avLst/>
          </a:prstGeom>
        </p:spPr>
        <p:txBody>
          <a:bodyPr anchor="t" rtlCol="false" tIns="0" lIns="0" bIns="0" rIns="0">
            <a:spAutoFit/>
          </a:bodyPr>
          <a:lstStyle/>
          <a:p>
            <a:pPr algn="ctr" marL="0" indent="0" lvl="0">
              <a:lnSpc>
                <a:spcPts val="13998"/>
              </a:lnSpc>
              <a:spcBef>
                <a:spcPct val="0"/>
              </a:spcBef>
            </a:pPr>
            <a:r>
              <a:rPr lang="en-US" sz="9998">
                <a:solidFill>
                  <a:srgbClr val="E79246"/>
                </a:solidFill>
                <a:latin typeface="Cubao Wide"/>
              </a:rPr>
              <a:t>Solution</a:t>
            </a:r>
          </a:p>
        </p:txBody>
      </p:sp>
      <p:sp>
        <p:nvSpPr>
          <p:cNvPr name="Freeform 9" id="9"/>
          <p:cNvSpPr/>
          <p:nvPr/>
        </p:nvSpPr>
        <p:spPr>
          <a:xfrm flipH="true" flipV="false" rot="0">
            <a:off x="-1282265" y="3915201"/>
            <a:ext cx="3864515" cy="1124223"/>
          </a:xfrm>
          <a:custGeom>
            <a:avLst/>
            <a:gdLst/>
            <a:ahLst/>
            <a:cxnLst/>
            <a:rect r="r" b="b" t="t" l="l"/>
            <a:pathLst>
              <a:path h="1124223" w="3864515">
                <a:moveTo>
                  <a:pt x="3864515" y="0"/>
                </a:moveTo>
                <a:lnTo>
                  <a:pt x="0" y="0"/>
                </a:lnTo>
                <a:lnTo>
                  <a:pt x="0" y="1124222"/>
                </a:lnTo>
                <a:lnTo>
                  <a:pt x="3864515" y="1124222"/>
                </a:lnTo>
                <a:lnTo>
                  <a:pt x="3864515"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0">
            <a:off x="7575639" y="4160099"/>
            <a:ext cx="2180842" cy="634427"/>
          </a:xfrm>
          <a:custGeom>
            <a:avLst/>
            <a:gdLst/>
            <a:ahLst/>
            <a:cxnLst/>
            <a:rect r="r" b="b" t="t" l="l"/>
            <a:pathLst>
              <a:path h="634427" w="2180842">
                <a:moveTo>
                  <a:pt x="2180842" y="0"/>
                </a:moveTo>
                <a:lnTo>
                  <a:pt x="0" y="0"/>
                </a:lnTo>
                <a:lnTo>
                  <a:pt x="0" y="634426"/>
                </a:lnTo>
                <a:lnTo>
                  <a:pt x="2180842" y="634426"/>
                </a:lnTo>
                <a:lnTo>
                  <a:pt x="218084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false" rot="0">
            <a:off x="15782232" y="5557992"/>
            <a:ext cx="2180842" cy="634427"/>
          </a:xfrm>
          <a:custGeom>
            <a:avLst/>
            <a:gdLst/>
            <a:ahLst/>
            <a:cxnLst/>
            <a:rect r="r" b="b" t="t" l="l"/>
            <a:pathLst>
              <a:path h="634427" w="2180842">
                <a:moveTo>
                  <a:pt x="2180842" y="0"/>
                </a:moveTo>
                <a:lnTo>
                  <a:pt x="0" y="0"/>
                </a:lnTo>
                <a:lnTo>
                  <a:pt x="0" y="634427"/>
                </a:lnTo>
                <a:lnTo>
                  <a:pt x="2180842" y="634427"/>
                </a:lnTo>
                <a:lnTo>
                  <a:pt x="218084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true" flipV="false" rot="0">
            <a:off x="17117851" y="4070492"/>
            <a:ext cx="2180842" cy="634427"/>
          </a:xfrm>
          <a:custGeom>
            <a:avLst/>
            <a:gdLst/>
            <a:ahLst/>
            <a:cxnLst/>
            <a:rect r="r" b="b" t="t" l="l"/>
            <a:pathLst>
              <a:path h="634427" w="2180842">
                <a:moveTo>
                  <a:pt x="2180842" y="0"/>
                </a:moveTo>
                <a:lnTo>
                  <a:pt x="0" y="0"/>
                </a:lnTo>
                <a:lnTo>
                  <a:pt x="0" y="634427"/>
                </a:lnTo>
                <a:lnTo>
                  <a:pt x="2180842" y="634427"/>
                </a:lnTo>
                <a:lnTo>
                  <a:pt x="218084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true" flipV="false" rot="0">
            <a:off x="1028700" y="6211343"/>
            <a:ext cx="1553550" cy="451942"/>
          </a:xfrm>
          <a:custGeom>
            <a:avLst/>
            <a:gdLst/>
            <a:ahLst/>
            <a:cxnLst/>
            <a:rect r="r" b="b" t="t" l="l"/>
            <a:pathLst>
              <a:path h="451942" w="1553550">
                <a:moveTo>
                  <a:pt x="1553550" y="0"/>
                </a:moveTo>
                <a:lnTo>
                  <a:pt x="0" y="0"/>
                </a:lnTo>
                <a:lnTo>
                  <a:pt x="0" y="451942"/>
                </a:lnTo>
                <a:lnTo>
                  <a:pt x="1553550" y="451942"/>
                </a:lnTo>
                <a:lnTo>
                  <a:pt x="155355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grpSp>
        <p:nvGrpSpPr>
          <p:cNvPr name="Group 2" id="2"/>
          <p:cNvGrpSpPr/>
          <p:nvPr/>
        </p:nvGrpSpPr>
        <p:grpSpPr>
          <a:xfrm rot="0">
            <a:off x="0" y="9131115"/>
            <a:ext cx="18288000" cy="1155885"/>
            <a:chOff x="0" y="0"/>
            <a:chExt cx="4816593" cy="304430"/>
          </a:xfrm>
        </p:grpSpPr>
        <p:sp>
          <p:nvSpPr>
            <p:cNvPr name="Freeform 3" id="3"/>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28286"/>
            </a:solidFill>
          </p:spPr>
        </p:sp>
        <p:sp>
          <p:nvSpPr>
            <p:cNvPr name="TextBox 4" id="4"/>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69295" y="1467858"/>
            <a:ext cx="8617637" cy="7975231"/>
          </a:xfrm>
          <a:custGeom>
            <a:avLst/>
            <a:gdLst/>
            <a:ahLst/>
            <a:cxnLst/>
            <a:rect r="r" b="b" t="t" l="l"/>
            <a:pathLst>
              <a:path h="7975231" w="8617637">
                <a:moveTo>
                  <a:pt x="0" y="0"/>
                </a:moveTo>
                <a:lnTo>
                  <a:pt x="8617636" y="0"/>
                </a:lnTo>
                <a:lnTo>
                  <a:pt x="8617636" y="7975231"/>
                </a:lnTo>
                <a:lnTo>
                  <a:pt x="0" y="7975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8501181" y="5166082"/>
            <a:ext cx="8525496" cy="2907147"/>
          </a:xfrm>
          <a:prstGeom prst="rect">
            <a:avLst/>
          </a:prstGeom>
        </p:spPr>
        <p:txBody>
          <a:bodyPr anchor="t" rtlCol="false" tIns="0" lIns="0" bIns="0" rIns="0">
            <a:spAutoFit/>
          </a:bodyPr>
          <a:lstStyle/>
          <a:p>
            <a:pPr algn="ctr" marL="0" indent="0" lvl="0">
              <a:lnSpc>
                <a:spcPts val="4441"/>
              </a:lnSpc>
              <a:spcBef>
                <a:spcPct val="0"/>
              </a:spcBef>
            </a:pPr>
            <a:r>
              <a:rPr lang="en-US" sz="4881">
                <a:solidFill>
                  <a:srgbClr val="000000"/>
                </a:solidFill>
                <a:latin typeface="Childos Arabic"/>
              </a:rPr>
              <a:t>TIP is a program that makes bookkeeping software friendly to sole proprietors that want to start a business with a sari-sari store.</a:t>
            </a:r>
          </a:p>
        </p:txBody>
      </p:sp>
      <p:sp>
        <p:nvSpPr>
          <p:cNvPr name="TextBox 7" id="7"/>
          <p:cNvSpPr txBox="true"/>
          <p:nvPr/>
        </p:nvSpPr>
        <p:spPr>
          <a:xfrm rot="0">
            <a:off x="9605050" y="1611202"/>
            <a:ext cx="6317759" cy="2411880"/>
          </a:xfrm>
          <a:prstGeom prst="rect">
            <a:avLst/>
          </a:prstGeom>
        </p:spPr>
        <p:txBody>
          <a:bodyPr anchor="t" rtlCol="false" tIns="0" lIns="0" bIns="0" rIns="0">
            <a:spAutoFit/>
          </a:bodyPr>
          <a:lstStyle/>
          <a:p>
            <a:pPr algn="ctr" marL="0" indent="0" lvl="0">
              <a:lnSpc>
                <a:spcPts val="18687"/>
              </a:lnSpc>
              <a:spcBef>
                <a:spcPct val="0"/>
              </a:spcBef>
            </a:pPr>
            <a:r>
              <a:rPr lang="en-US" sz="13348">
                <a:solidFill>
                  <a:srgbClr val="AF3222"/>
                </a:solidFill>
                <a:latin typeface="Cubao Narrow"/>
              </a:rPr>
              <a:t>solution</a:t>
            </a:r>
          </a:p>
        </p:txBody>
      </p:sp>
      <p:sp>
        <p:nvSpPr>
          <p:cNvPr name="Freeform 8" id="8"/>
          <p:cNvSpPr/>
          <p:nvPr/>
        </p:nvSpPr>
        <p:spPr>
          <a:xfrm flipH="true" flipV="false" rot="0">
            <a:off x="8818911" y="1059604"/>
            <a:ext cx="2806748" cy="816509"/>
          </a:xfrm>
          <a:custGeom>
            <a:avLst/>
            <a:gdLst/>
            <a:ahLst/>
            <a:cxnLst/>
            <a:rect r="r" b="b" t="t" l="l"/>
            <a:pathLst>
              <a:path h="816509" w="2806748">
                <a:moveTo>
                  <a:pt x="2806749" y="0"/>
                </a:moveTo>
                <a:lnTo>
                  <a:pt x="0" y="0"/>
                </a:lnTo>
                <a:lnTo>
                  <a:pt x="0" y="816509"/>
                </a:lnTo>
                <a:lnTo>
                  <a:pt x="2806749" y="816509"/>
                </a:lnTo>
                <a:lnTo>
                  <a:pt x="280674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7793460" y="3552393"/>
            <a:ext cx="1983094" cy="576900"/>
          </a:xfrm>
          <a:custGeom>
            <a:avLst/>
            <a:gdLst/>
            <a:ahLst/>
            <a:cxnLst/>
            <a:rect r="r" b="b" t="t" l="l"/>
            <a:pathLst>
              <a:path h="576900" w="1983094">
                <a:moveTo>
                  <a:pt x="1983094" y="0"/>
                </a:moveTo>
                <a:lnTo>
                  <a:pt x="0" y="0"/>
                </a:lnTo>
                <a:lnTo>
                  <a:pt x="0" y="576900"/>
                </a:lnTo>
                <a:lnTo>
                  <a:pt x="1983094" y="576900"/>
                </a:lnTo>
                <a:lnTo>
                  <a:pt x="19830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14074347" y="215935"/>
            <a:ext cx="5587756" cy="1625529"/>
          </a:xfrm>
          <a:custGeom>
            <a:avLst/>
            <a:gdLst/>
            <a:ahLst/>
            <a:cxnLst/>
            <a:rect r="r" b="b" t="t" l="l"/>
            <a:pathLst>
              <a:path h="1625529" w="5587756">
                <a:moveTo>
                  <a:pt x="5587757" y="0"/>
                </a:moveTo>
                <a:lnTo>
                  <a:pt x="0" y="0"/>
                </a:lnTo>
                <a:lnTo>
                  <a:pt x="0" y="1625530"/>
                </a:lnTo>
                <a:lnTo>
                  <a:pt x="5587757" y="1625530"/>
                </a:lnTo>
                <a:lnTo>
                  <a:pt x="55877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0">
            <a:off x="-469295" y="1796259"/>
            <a:ext cx="1983094" cy="576900"/>
          </a:xfrm>
          <a:custGeom>
            <a:avLst/>
            <a:gdLst/>
            <a:ahLst/>
            <a:cxnLst/>
            <a:rect r="r" b="b" t="t" l="l"/>
            <a:pathLst>
              <a:path h="576900" w="1983094">
                <a:moveTo>
                  <a:pt x="1983093" y="0"/>
                </a:moveTo>
                <a:lnTo>
                  <a:pt x="0" y="0"/>
                </a:lnTo>
                <a:lnTo>
                  <a:pt x="0" y="576900"/>
                </a:lnTo>
                <a:lnTo>
                  <a:pt x="1983093" y="576900"/>
                </a:lnTo>
                <a:lnTo>
                  <a:pt x="198309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false" rot="0">
            <a:off x="5536925" y="451800"/>
            <a:ext cx="1983094" cy="576900"/>
          </a:xfrm>
          <a:custGeom>
            <a:avLst/>
            <a:gdLst/>
            <a:ahLst/>
            <a:cxnLst/>
            <a:rect r="r" b="b" t="t" l="l"/>
            <a:pathLst>
              <a:path h="576900" w="1983094">
                <a:moveTo>
                  <a:pt x="1983094" y="0"/>
                </a:moveTo>
                <a:lnTo>
                  <a:pt x="0" y="0"/>
                </a:lnTo>
                <a:lnTo>
                  <a:pt x="0" y="576900"/>
                </a:lnTo>
                <a:lnTo>
                  <a:pt x="1983094" y="576900"/>
                </a:lnTo>
                <a:lnTo>
                  <a:pt x="19830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grpSp>
        <p:nvGrpSpPr>
          <p:cNvPr name="Group 2" id="2"/>
          <p:cNvGrpSpPr/>
          <p:nvPr/>
        </p:nvGrpSpPr>
        <p:grpSpPr>
          <a:xfrm rot="0">
            <a:off x="0" y="9131115"/>
            <a:ext cx="18288000" cy="1155885"/>
            <a:chOff x="0" y="0"/>
            <a:chExt cx="4816593" cy="304430"/>
          </a:xfrm>
        </p:grpSpPr>
        <p:sp>
          <p:nvSpPr>
            <p:cNvPr name="Freeform 3" id="3"/>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28286"/>
            </a:solidFill>
          </p:spPr>
        </p:sp>
        <p:sp>
          <p:nvSpPr>
            <p:cNvPr name="TextBox 4" id="4"/>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true" flipV="false" rot="0">
            <a:off x="10323932" y="1028700"/>
            <a:ext cx="7817455" cy="8616433"/>
          </a:xfrm>
          <a:custGeom>
            <a:avLst/>
            <a:gdLst/>
            <a:ahLst/>
            <a:cxnLst/>
            <a:rect r="r" b="b" t="t" l="l"/>
            <a:pathLst>
              <a:path h="8616433" w="7817455">
                <a:moveTo>
                  <a:pt x="7817455" y="0"/>
                </a:moveTo>
                <a:lnTo>
                  <a:pt x="0" y="0"/>
                </a:lnTo>
                <a:lnTo>
                  <a:pt x="0" y="8616433"/>
                </a:lnTo>
                <a:lnTo>
                  <a:pt x="7817455" y="8616433"/>
                </a:lnTo>
                <a:lnTo>
                  <a:pt x="781745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802531" y="1935493"/>
            <a:ext cx="7907571" cy="2013918"/>
          </a:xfrm>
          <a:prstGeom prst="rect">
            <a:avLst/>
          </a:prstGeom>
        </p:spPr>
        <p:txBody>
          <a:bodyPr anchor="t" rtlCol="false" tIns="0" lIns="0" bIns="0" rIns="0">
            <a:spAutoFit/>
          </a:bodyPr>
          <a:lstStyle/>
          <a:p>
            <a:pPr algn="ctr" marL="0" indent="0" lvl="0">
              <a:lnSpc>
                <a:spcPts val="15644"/>
              </a:lnSpc>
              <a:spcBef>
                <a:spcPct val="0"/>
              </a:spcBef>
            </a:pPr>
            <a:r>
              <a:rPr lang="en-US" sz="11174">
                <a:solidFill>
                  <a:srgbClr val="E4B022"/>
                </a:solidFill>
                <a:latin typeface="Cubao Narrow"/>
              </a:rPr>
              <a:t>solution</a:t>
            </a:r>
          </a:p>
        </p:txBody>
      </p:sp>
      <p:sp>
        <p:nvSpPr>
          <p:cNvPr name="TextBox 7" id="7"/>
          <p:cNvSpPr txBox="true"/>
          <p:nvPr/>
        </p:nvSpPr>
        <p:spPr>
          <a:xfrm rot="0">
            <a:off x="1588289" y="4235161"/>
            <a:ext cx="7960496" cy="3828038"/>
          </a:xfrm>
          <a:prstGeom prst="rect">
            <a:avLst/>
          </a:prstGeom>
        </p:spPr>
        <p:txBody>
          <a:bodyPr anchor="t" rtlCol="false" tIns="0" lIns="0" bIns="0" rIns="0">
            <a:spAutoFit/>
          </a:bodyPr>
          <a:lstStyle/>
          <a:p>
            <a:pPr algn="ctr" marL="0" indent="0" lvl="0">
              <a:lnSpc>
                <a:spcPts val="4211"/>
              </a:lnSpc>
              <a:spcBef>
                <a:spcPct val="0"/>
              </a:spcBef>
            </a:pPr>
            <a:r>
              <a:rPr lang="en-US" sz="4627">
                <a:solidFill>
                  <a:srgbClr val="000000"/>
                </a:solidFill>
                <a:latin typeface="Childos Arabic"/>
              </a:rPr>
              <a:t>The goal of this project is to simplify the calculation process of net profit/loss for the sole proprietor and help track the current inventory of the products being sold in a sari-sari store. </a:t>
            </a:r>
          </a:p>
        </p:txBody>
      </p:sp>
      <p:sp>
        <p:nvSpPr>
          <p:cNvPr name="Freeform 8" id="8"/>
          <p:cNvSpPr/>
          <p:nvPr/>
        </p:nvSpPr>
        <p:spPr>
          <a:xfrm flipH="true" flipV="false" rot="0">
            <a:off x="16212177" y="3949411"/>
            <a:ext cx="3259040" cy="948084"/>
          </a:xfrm>
          <a:custGeom>
            <a:avLst/>
            <a:gdLst/>
            <a:ahLst/>
            <a:cxnLst/>
            <a:rect r="r" b="b" t="t" l="l"/>
            <a:pathLst>
              <a:path h="948084" w="3259040">
                <a:moveTo>
                  <a:pt x="3259041" y="0"/>
                </a:moveTo>
                <a:lnTo>
                  <a:pt x="0" y="0"/>
                </a:lnTo>
                <a:lnTo>
                  <a:pt x="0" y="948085"/>
                </a:lnTo>
                <a:lnTo>
                  <a:pt x="3259041" y="948085"/>
                </a:lnTo>
                <a:lnTo>
                  <a:pt x="325904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0323932" y="4475310"/>
            <a:ext cx="2456264" cy="714550"/>
          </a:xfrm>
          <a:custGeom>
            <a:avLst/>
            <a:gdLst/>
            <a:ahLst/>
            <a:cxnLst/>
            <a:rect r="r" b="b" t="t" l="l"/>
            <a:pathLst>
              <a:path h="714550" w="2456264">
                <a:moveTo>
                  <a:pt x="2456265" y="0"/>
                </a:moveTo>
                <a:lnTo>
                  <a:pt x="0" y="0"/>
                </a:lnTo>
                <a:lnTo>
                  <a:pt x="0" y="714549"/>
                </a:lnTo>
                <a:lnTo>
                  <a:pt x="2456265" y="714549"/>
                </a:lnTo>
                <a:lnTo>
                  <a:pt x="245626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8320653" y="464514"/>
            <a:ext cx="2456264" cy="714550"/>
          </a:xfrm>
          <a:custGeom>
            <a:avLst/>
            <a:gdLst/>
            <a:ahLst/>
            <a:cxnLst/>
            <a:rect r="r" b="b" t="t" l="l"/>
            <a:pathLst>
              <a:path h="714550" w="2456264">
                <a:moveTo>
                  <a:pt x="2456264" y="0"/>
                </a:moveTo>
                <a:lnTo>
                  <a:pt x="0" y="0"/>
                </a:lnTo>
                <a:lnTo>
                  <a:pt x="0" y="714549"/>
                </a:lnTo>
                <a:lnTo>
                  <a:pt x="2456264" y="714549"/>
                </a:lnTo>
                <a:lnTo>
                  <a:pt x="245626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0">
            <a:off x="3218448" y="257602"/>
            <a:ext cx="3878782" cy="1128373"/>
          </a:xfrm>
          <a:custGeom>
            <a:avLst/>
            <a:gdLst/>
            <a:ahLst/>
            <a:cxnLst/>
            <a:rect r="r" b="b" t="t" l="l"/>
            <a:pathLst>
              <a:path h="1128373" w="3878782">
                <a:moveTo>
                  <a:pt x="3878782" y="0"/>
                </a:moveTo>
                <a:lnTo>
                  <a:pt x="0" y="0"/>
                </a:lnTo>
                <a:lnTo>
                  <a:pt x="0" y="1128373"/>
                </a:lnTo>
                <a:lnTo>
                  <a:pt x="3878782" y="1128373"/>
                </a:lnTo>
                <a:lnTo>
                  <a:pt x="387878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false" rot="0">
            <a:off x="-1128311" y="3001327"/>
            <a:ext cx="3259040" cy="948084"/>
          </a:xfrm>
          <a:custGeom>
            <a:avLst/>
            <a:gdLst/>
            <a:ahLst/>
            <a:cxnLst/>
            <a:rect r="r" b="b" t="t" l="l"/>
            <a:pathLst>
              <a:path h="948084" w="3259040">
                <a:moveTo>
                  <a:pt x="3259040" y="0"/>
                </a:moveTo>
                <a:lnTo>
                  <a:pt x="0" y="0"/>
                </a:lnTo>
                <a:lnTo>
                  <a:pt x="0" y="948084"/>
                </a:lnTo>
                <a:lnTo>
                  <a:pt x="3259040" y="948084"/>
                </a:lnTo>
                <a:lnTo>
                  <a:pt x="325904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false" rot="0">
            <a:off x="785525" y="1592886"/>
            <a:ext cx="1017006" cy="295856"/>
          </a:xfrm>
          <a:custGeom>
            <a:avLst/>
            <a:gdLst/>
            <a:ahLst/>
            <a:cxnLst/>
            <a:rect r="r" b="b" t="t" l="l"/>
            <a:pathLst>
              <a:path h="295856" w="1017006">
                <a:moveTo>
                  <a:pt x="1017006" y="0"/>
                </a:moveTo>
                <a:lnTo>
                  <a:pt x="0" y="0"/>
                </a:lnTo>
                <a:lnTo>
                  <a:pt x="0" y="295857"/>
                </a:lnTo>
                <a:lnTo>
                  <a:pt x="1017006" y="295857"/>
                </a:lnTo>
                <a:lnTo>
                  <a:pt x="101700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grpSp>
        <p:nvGrpSpPr>
          <p:cNvPr name="Group 2" id="2"/>
          <p:cNvGrpSpPr/>
          <p:nvPr/>
        </p:nvGrpSpPr>
        <p:grpSpPr>
          <a:xfrm rot="0">
            <a:off x="0" y="9131115"/>
            <a:ext cx="18288000" cy="1155885"/>
            <a:chOff x="0" y="0"/>
            <a:chExt cx="4816593" cy="304430"/>
          </a:xfrm>
        </p:grpSpPr>
        <p:sp>
          <p:nvSpPr>
            <p:cNvPr name="Freeform 3" id="3"/>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28286"/>
            </a:solidFill>
          </p:spPr>
        </p:sp>
        <p:sp>
          <p:nvSpPr>
            <p:cNvPr name="TextBox 4" id="4"/>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true" flipV="false" rot="0">
            <a:off x="11220561" y="2016968"/>
            <a:ext cx="6920826" cy="7628165"/>
          </a:xfrm>
          <a:custGeom>
            <a:avLst/>
            <a:gdLst/>
            <a:ahLst/>
            <a:cxnLst/>
            <a:rect r="r" b="b" t="t" l="l"/>
            <a:pathLst>
              <a:path h="7628165" w="6920826">
                <a:moveTo>
                  <a:pt x="6920826" y="0"/>
                </a:moveTo>
                <a:lnTo>
                  <a:pt x="0" y="0"/>
                </a:lnTo>
                <a:lnTo>
                  <a:pt x="0" y="7628165"/>
                </a:lnTo>
                <a:lnTo>
                  <a:pt x="6920826" y="7628165"/>
                </a:lnTo>
                <a:lnTo>
                  <a:pt x="692082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534274" y="428765"/>
            <a:ext cx="7907571" cy="2013918"/>
          </a:xfrm>
          <a:prstGeom prst="rect">
            <a:avLst/>
          </a:prstGeom>
        </p:spPr>
        <p:txBody>
          <a:bodyPr anchor="t" rtlCol="false" tIns="0" lIns="0" bIns="0" rIns="0">
            <a:spAutoFit/>
          </a:bodyPr>
          <a:lstStyle/>
          <a:p>
            <a:pPr algn="ctr" marL="0" indent="0" lvl="0">
              <a:lnSpc>
                <a:spcPts val="15644"/>
              </a:lnSpc>
              <a:spcBef>
                <a:spcPct val="0"/>
              </a:spcBef>
            </a:pPr>
            <a:r>
              <a:rPr lang="en-US" sz="11174">
                <a:solidFill>
                  <a:srgbClr val="E4B022"/>
                </a:solidFill>
                <a:latin typeface="Cubao Narrow"/>
              </a:rPr>
              <a:t>solution</a:t>
            </a:r>
          </a:p>
        </p:txBody>
      </p:sp>
      <p:sp>
        <p:nvSpPr>
          <p:cNvPr name="TextBox 7" id="7"/>
          <p:cNvSpPr txBox="true"/>
          <p:nvPr/>
        </p:nvSpPr>
        <p:spPr>
          <a:xfrm rot="0">
            <a:off x="1294028" y="2844180"/>
            <a:ext cx="8789658" cy="5961638"/>
          </a:xfrm>
          <a:prstGeom prst="rect">
            <a:avLst/>
          </a:prstGeom>
        </p:spPr>
        <p:txBody>
          <a:bodyPr anchor="t" rtlCol="false" tIns="0" lIns="0" bIns="0" rIns="0">
            <a:spAutoFit/>
          </a:bodyPr>
          <a:lstStyle/>
          <a:p>
            <a:pPr algn="ctr">
              <a:lnSpc>
                <a:spcPts val="4211"/>
              </a:lnSpc>
            </a:pPr>
            <a:r>
              <a:rPr lang="en-US" sz="4627">
                <a:solidFill>
                  <a:srgbClr val="000000"/>
                </a:solidFill>
                <a:latin typeface="Childos Arabic"/>
              </a:rPr>
              <a:t>The calculations of profit/loss can be done erroneously, especially if not done properly, hence this program, alongside its goals to store and track inventory, help keep the numerical data reflective of the store’s current financial position. </a:t>
            </a:r>
          </a:p>
          <a:p>
            <a:pPr algn="ctr">
              <a:lnSpc>
                <a:spcPts val="4211"/>
              </a:lnSpc>
            </a:pPr>
          </a:p>
          <a:p>
            <a:pPr algn="ctr" marL="0" indent="0" lvl="0">
              <a:lnSpc>
                <a:spcPts val="4211"/>
              </a:lnSpc>
              <a:spcBef>
                <a:spcPct val="0"/>
              </a:spcBef>
            </a:pPr>
            <a:r>
              <a:rPr lang="en-US" sz="4627">
                <a:solidFill>
                  <a:srgbClr val="000000"/>
                </a:solidFill>
                <a:latin typeface="Childos Arabic"/>
              </a:rPr>
              <a:t>As for the inventory, a periodic inventory system will be observed for uniformity.</a:t>
            </a:r>
          </a:p>
        </p:txBody>
      </p:sp>
      <p:sp>
        <p:nvSpPr>
          <p:cNvPr name="Freeform 8" id="8"/>
          <p:cNvSpPr/>
          <p:nvPr/>
        </p:nvSpPr>
        <p:spPr>
          <a:xfrm flipH="true" flipV="false" rot="0">
            <a:off x="16212177" y="3949411"/>
            <a:ext cx="3259040" cy="948084"/>
          </a:xfrm>
          <a:custGeom>
            <a:avLst/>
            <a:gdLst/>
            <a:ahLst/>
            <a:cxnLst/>
            <a:rect r="r" b="b" t="t" l="l"/>
            <a:pathLst>
              <a:path h="948084" w="3259040">
                <a:moveTo>
                  <a:pt x="3259041" y="0"/>
                </a:moveTo>
                <a:lnTo>
                  <a:pt x="0" y="0"/>
                </a:lnTo>
                <a:lnTo>
                  <a:pt x="0" y="948085"/>
                </a:lnTo>
                <a:lnTo>
                  <a:pt x="3259041" y="948085"/>
                </a:lnTo>
                <a:lnTo>
                  <a:pt x="325904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0323932" y="4475310"/>
            <a:ext cx="2456264" cy="714550"/>
          </a:xfrm>
          <a:custGeom>
            <a:avLst/>
            <a:gdLst/>
            <a:ahLst/>
            <a:cxnLst/>
            <a:rect r="r" b="b" t="t" l="l"/>
            <a:pathLst>
              <a:path h="714550" w="2456264">
                <a:moveTo>
                  <a:pt x="2456265" y="0"/>
                </a:moveTo>
                <a:lnTo>
                  <a:pt x="0" y="0"/>
                </a:lnTo>
                <a:lnTo>
                  <a:pt x="0" y="714549"/>
                </a:lnTo>
                <a:lnTo>
                  <a:pt x="2456265" y="714549"/>
                </a:lnTo>
                <a:lnTo>
                  <a:pt x="245626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9441845" y="464514"/>
            <a:ext cx="2456264" cy="714550"/>
          </a:xfrm>
          <a:custGeom>
            <a:avLst/>
            <a:gdLst/>
            <a:ahLst/>
            <a:cxnLst/>
            <a:rect r="r" b="b" t="t" l="l"/>
            <a:pathLst>
              <a:path h="714550" w="2456264">
                <a:moveTo>
                  <a:pt x="2456265" y="0"/>
                </a:moveTo>
                <a:lnTo>
                  <a:pt x="0" y="0"/>
                </a:lnTo>
                <a:lnTo>
                  <a:pt x="0" y="714549"/>
                </a:lnTo>
                <a:lnTo>
                  <a:pt x="2456265" y="714549"/>
                </a:lnTo>
                <a:lnTo>
                  <a:pt x="245626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0">
            <a:off x="13195366" y="257602"/>
            <a:ext cx="3878782" cy="1128373"/>
          </a:xfrm>
          <a:custGeom>
            <a:avLst/>
            <a:gdLst/>
            <a:ahLst/>
            <a:cxnLst/>
            <a:rect r="r" b="b" t="t" l="l"/>
            <a:pathLst>
              <a:path h="1128373" w="3878782">
                <a:moveTo>
                  <a:pt x="3878782" y="0"/>
                </a:moveTo>
                <a:lnTo>
                  <a:pt x="0" y="0"/>
                </a:lnTo>
                <a:lnTo>
                  <a:pt x="0" y="1128373"/>
                </a:lnTo>
                <a:lnTo>
                  <a:pt x="3878782" y="1128373"/>
                </a:lnTo>
                <a:lnTo>
                  <a:pt x="387878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false" rot="0">
            <a:off x="-1724766" y="2293938"/>
            <a:ext cx="3259040" cy="948084"/>
          </a:xfrm>
          <a:custGeom>
            <a:avLst/>
            <a:gdLst/>
            <a:ahLst/>
            <a:cxnLst/>
            <a:rect r="r" b="b" t="t" l="l"/>
            <a:pathLst>
              <a:path h="948084" w="3259040">
                <a:moveTo>
                  <a:pt x="3259040" y="0"/>
                </a:moveTo>
                <a:lnTo>
                  <a:pt x="0" y="0"/>
                </a:lnTo>
                <a:lnTo>
                  <a:pt x="0" y="948085"/>
                </a:lnTo>
                <a:lnTo>
                  <a:pt x="3259040" y="948085"/>
                </a:lnTo>
                <a:lnTo>
                  <a:pt x="325904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false" rot="0">
            <a:off x="785525" y="1592886"/>
            <a:ext cx="1017006" cy="295856"/>
          </a:xfrm>
          <a:custGeom>
            <a:avLst/>
            <a:gdLst/>
            <a:ahLst/>
            <a:cxnLst/>
            <a:rect r="r" b="b" t="t" l="l"/>
            <a:pathLst>
              <a:path h="295856" w="1017006">
                <a:moveTo>
                  <a:pt x="1017006" y="0"/>
                </a:moveTo>
                <a:lnTo>
                  <a:pt x="0" y="0"/>
                </a:lnTo>
                <a:lnTo>
                  <a:pt x="0" y="295857"/>
                </a:lnTo>
                <a:lnTo>
                  <a:pt x="1017006" y="295857"/>
                </a:lnTo>
                <a:lnTo>
                  <a:pt x="101700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grpSp>
        <p:nvGrpSpPr>
          <p:cNvPr name="Group 2" id="2"/>
          <p:cNvGrpSpPr/>
          <p:nvPr/>
        </p:nvGrpSpPr>
        <p:grpSpPr>
          <a:xfrm rot="0">
            <a:off x="0" y="9131115"/>
            <a:ext cx="18288000" cy="1155885"/>
            <a:chOff x="0" y="0"/>
            <a:chExt cx="4816593" cy="304430"/>
          </a:xfrm>
        </p:grpSpPr>
        <p:sp>
          <p:nvSpPr>
            <p:cNvPr name="Freeform 3" id="3"/>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28286"/>
            </a:solidFill>
          </p:spPr>
        </p:sp>
        <p:sp>
          <p:nvSpPr>
            <p:cNvPr name="TextBox 4" id="4"/>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true" flipV="false" rot="0">
            <a:off x="11220561" y="2016968"/>
            <a:ext cx="6920826" cy="7628165"/>
          </a:xfrm>
          <a:custGeom>
            <a:avLst/>
            <a:gdLst/>
            <a:ahLst/>
            <a:cxnLst/>
            <a:rect r="r" b="b" t="t" l="l"/>
            <a:pathLst>
              <a:path h="7628165" w="6920826">
                <a:moveTo>
                  <a:pt x="6920826" y="0"/>
                </a:moveTo>
                <a:lnTo>
                  <a:pt x="0" y="0"/>
                </a:lnTo>
                <a:lnTo>
                  <a:pt x="0" y="7628165"/>
                </a:lnTo>
                <a:lnTo>
                  <a:pt x="6920826" y="7628165"/>
                </a:lnTo>
                <a:lnTo>
                  <a:pt x="692082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3195366" y="257602"/>
            <a:ext cx="3878782" cy="1128373"/>
          </a:xfrm>
          <a:custGeom>
            <a:avLst/>
            <a:gdLst/>
            <a:ahLst/>
            <a:cxnLst/>
            <a:rect r="r" b="b" t="t" l="l"/>
            <a:pathLst>
              <a:path h="1128373" w="3878782">
                <a:moveTo>
                  <a:pt x="3878782" y="0"/>
                </a:moveTo>
                <a:lnTo>
                  <a:pt x="0" y="0"/>
                </a:lnTo>
                <a:lnTo>
                  <a:pt x="0" y="1128373"/>
                </a:lnTo>
                <a:lnTo>
                  <a:pt x="3878782" y="1128373"/>
                </a:lnTo>
                <a:lnTo>
                  <a:pt x="387878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9441845" y="464514"/>
            <a:ext cx="2456264" cy="714550"/>
          </a:xfrm>
          <a:custGeom>
            <a:avLst/>
            <a:gdLst/>
            <a:ahLst/>
            <a:cxnLst/>
            <a:rect r="r" b="b" t="t" l="l"/>
            <a:pathLst>
              <a:path h="714550" w="2456264">
                <a:moveTo>
                  <a:pt x="2456265" y="0"/>
                </a:moveTo>
                <a:lnTo>
                  <a:pt x="0" y="0"/>
                </a:lnTo>
                <a:lnTo>
                  <a:pt x="0" y="714549"/>
                </a:lnTo>
                <a:lnTo>
                  <a:pt x="2456265" y="714549"/>
                </a:lnTo>
                <a:lnTo>
                  <a:pt x="245626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766725" y="426101"/>
            <a:ext cx="16307423" cy="3997353"/>
          </a:xfrm>
          <a:prstGeom prst="rect">
            <a:avLst/>
          </a:prstGeom>
        </p:spPr>
        <p:txBody>
          <a:bodyPr anchor="t" rtlCol="false" tIns="0" lIns="0" bIns="0" rIns="0">
            <a:spAutoFit/>
          </a:bodyPr>
          <a:lstStyle/>
          <a:p>
            <a:pPr algn="ctr" marL="0" indent="0" lvl="0">
              <a:lnSpc>
                <a:spcPts val="15644"/>
              </a:lnSpc>
              <a:spcBef>
                <a:spcPct val="0"/>
              </a:spcBef>
            </a:pPr>
            <a:r>
              <a:rPr lang="en-US" sz="11174">
                <a:solidFill>
                  <a:srgbClr val="E4B022"/>
                </a:solidFill>
                <a:latin typeface="Cubao Narrow"/>
              </a:rPr>
              <a:t>sdg 8: sustainable economic growth</a:t>
            </a:r>
          </a:p>
        </p:txBody>
      </p:sp>
      <p:sp>
        <p:nvSpPr>
          <p:cNvPr name="TextBox 9" id="9"/>
          <p:cNvSpPr txBox="true"/>
          <p:nvPr/>
        </p:nvSpPr>
        <p:spPr>
          <a:xfrm rot="0">
            <a:off x="1028700" y="4908785"/>
            <a:ext cx="8789658" cy="3828038"/>
          </a:xfrm>
          <a:prstGeom prst="rect">
            <a:avLst/>
          </a:prstGeom>
        </p:spPr>
        <p:txBody>
          <a:bodyPr anchor="t" rtlCol="false" tIns="0" lIns="0" bIns="0" rIns="0">
            <a:spAutoFit/>
          </a:bodyPr>
          <a:lstStyle/>
          <a:p>
            <a:pPr algn="ctr" marL="0" indent="0" lvl="0">
              <a:lnSpc>
                <a:spcPts val="4211"/>
              </a:lnSpc>
              <a:spcBef>
                <a:spcPct val="0"/>
              </a:spcBef>
            </a:pPr>
            <a:r>
              <a:rPr lang="en-US" sz="4627">
                <a:solidFill>
                  <a:srgbClr val="000000"/>
                </a:solidFill>
                <a:latin typeface="Childos Arabic"/>
              </a:rPr>
              <a:t>Since TIP aims to help micro and small enterprises in bookkeeping, it helps with the 8th Sustainable development goal of United Nations. By easing the work of these micro and small enterprises, their economic impact can be positively affected.</a:t>
            </a:r>
          </a:p>
        </p:txBody>
      </p:sp>
      <p:sp>
        <p:nvSpPr>
          <p:cNvPr name="Freeform 10" id="10"/>
          <p:cNvSpPr/>
          <p:nvPr/>
        </p:nvSpPr>
        <p:spPr>
          <a:xfrm flipH="true" flipV="false" rot="0">
            <a:off x="16212177" y="3949411"/>
            <a:ext cx="3259040" cy="948084"/>
          </a:xfrm>
          <a:custGeom>
            <a:avLst/>
            <a:gdLst/>
            <a:ahLst/>
            <a:cxnLst/>
            <a:rect r="r" b="b" t="t" l="l"/>
            <a:pathLst>
              <a:path h="948084" w="3259040">
                <a:moveTo>
                  <a:pt x="3259041" y="0"/>
                </a:moveTo>
                <a:lnTo>
                  <a:pt x="0" y="0"/>
                </a:lnTo>
                <a:lnTo>
                  <a:pt x="0" y="948085"/>
                </a:lnTo>
                <a:lnTo>
                  <a:pt x="3259041" y="948085"/>
                </a:lnTo>
                <a:lnTo>
                  <a:pt x="325904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0">
            <a:off x="10323932" y="4475310"/>
            <a:ext cx="2456264" cy="714550"/>
          </a:xfrm>
          <a:custGeom>
            <a:avLst/>
            <a:gdLst/>
            <a:ahLst/>
            <a:cxnLst/>
            <a:rect r="r" b="b" t="t" l="l"/>
            <a:pathLst>
              <a:path h="714550" w="2456264">
                <a:moveTo>
                  <a:pt x="2456265" y="0"/>
                </a:moveTo>
                <a:lnTo>
                  <a:pt x="0" y="0"/>
                </a:lnTo>
                <a:lnTo>
                  <a:pt x="0" y="714549"/>
                </a:lnTo>
                <a:lnTo>
                  <a:pt x="2456265" y="714549"/>
                </a:lnTo>
                <a:lnTo>
                  <a:pt x="245626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false" rot="0">
            <a:off x="-1724766" y="2293938"/>
            <a:ext cx="3259040" cy="948084"/>
          </a:xfrm>
          <a:custGeom>
            <a:avLst/>
            <a:gdLst/>
            <a:ahLst/>
            <a:cxnLst/>
            <a:rect r="r" b="b" t="t" l="l"/>
            <a:pathLst>
              <a:path h="948084" w="3259040">
                <a:moveTo>
                  <a:pt x="3259040" y="0"/>
                </a:moveTo>
                <a:lnTo>
                  <a:pt x="0" y="0"/>
                </a:lnTo>
                <a:lnTo>
                  <a:pt x="0" y="948085"/>
                </a:lnTo>
                <a:lnTo>
                  <a:pt x="3259040" y="948085"/>
                </a:lnTo>
                <a:lnTo>
                  <a:pt x="325904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false" rot="0">
            <a:off x="785525" y="1592886"/>
            <a:ext cx="1017006" cy="295856"/>
          </a:xfrm>
          <a:custGeom>
            <a:avLst/>
            <a:gdLst/>
            <a:ahLst/>
            <a:cxnLst/>
            <a:rect r="r" b="b" t="t" l="l"/>
            <a:pathLst>
              <a:path h="295856" w="1017006">
                <a:moveTo>
                  <a:pt x="1017006" y="0"/>
                </a:moveTo>
                <a:lnTo>
                  <a:pt x="0" y="0"/>
                </a:lnTo>
                <a:lnTo>
                  <a:pt x="0" y="295857"/>
                </a:lnTo>
                <a:lnTo>
                  <a:pt x="1017006" y="295857"/>
                </a:lnTo>
                <a:lnTo>
                  <a:pt x="101700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9E6C0"/>
        </a:solidFill>
      </p:bgPr>
    </p:bg>
    <p:spTree>
      <p:nvGrpSpPr>
        <p:cNvPr id="1" name=""/>
        <p:cNvGrpSpPr/>
        <p:nvPr/>
      </p:nvGrpSpPr>
      <p:grpSpPr>
        <a:xfrm>
          <a:off x="0" y="0"/>
          <a:ext cx="0" cy="0"/>
          <a:chOff x="0" y="0"/>
          <a:chExt cx="0" cy="0"/>
        </a:xfrm>
      </p:grpSpPr>
      <p:grpSp>
        <p:nvGrpSpPr>
          <p:cNvPr name="Group 2" id="2"/>
          <p:cNvGrpSpPr/>
          <p:nvPr/>
        </p:nvGrpSpPr>
        <p:grpSpPr>
          <a:xfrm rot="0">
            <a:off x="0" y="9131115"/>
            <a:ext cx="18288000" cy="1155885"/>
            <a:chOff x="0" y="0"/>
            <a:chExt cx="4816593" cy="304430"/>
          </a:xfrm>
        </p:grpSpPr>
        <p:sp>
          <p:nvSpPr>
            <p:cNvPr name="Freeform 3" id="3"/>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36312E"/>
            </a:solidFill>
          </p:spPr>
        </p:sp>
        <p:sp>
          <p:nvSpPr>
            <p:cNvPr name="TextBox 4" id="4"/>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98835" y="5117048"/>
            <a:ext cx="4042643" cy="4042643"/>
          </a:xfrm>
          <a:custGeom>
            <a:avLst/>
            <a:gdLst/>
            <a:ahLst/>
            <a:cxnLst/>
            <a:rect r="r" b="b" t="t" l="l"/>
            <a:pathLst>
              <a:path h="4042643" w="4042643">
                <a:moveTo>
                  <a:pt x="0" y="0"/>
                </a:moveTo>
                <a:lnTo>
                  <a:pt x="4042642" y="0"/>
                </a:lnTo>
                <a:lnTo>
                  <a:pt x="4042642" y="4042642"/>
                </a:lnTo>
                <a:lnTo>
                  <a:pt x="0" y="4042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942345" y="5107523"/>
            <a:ext cx="3888287" cy="4042643"/>
          </a:xfrm>
          <a:custGeom>
            <a:avLst/>
            <a:gdLst/>
            <a:ahLst/>
            <a:cxnLst/>
            <a:rect r="r" b="b" t="t" l="l"/>
            <a:pathLst>
              <a:path h="4042643" w="3888287">
                <a:moveTo>
                  <a:pt x="0" y="0"/>
                </a:moveTo>
                <a:lnTo>
                  <a:pt x="3888287" y="0"/>
                </a:lnTo>
                <a:lnTo>
                  <a:pt x="3888287" y="4042642"/>
                </a:lnTo>
                <a:lnTo>
                  <a:pt x="0" y="40426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335962" y="5126573"/>
            <a:ext cx="4163770" cy="4042643"/>
          </a:xfrm>
          <a:custGeom>
            <a:avLst/>
            <a:gdLst/>
            <a:ahLst/>
            <a:cxnLst/>
            <a:rect r="r" b="b" t="t" l="l"/>
            <a:pathLst>
              <a:path h="4042643" w="4163770">
                <a:moveTo>
                  <a:pt x="0" y="0"/>
                </a:moveTo>
                <a:lnTo>
                  <a:pt x="4163771" y="0"/>
                </a:lnTo>
                <a:lnTo>
                  <a:pt x="4163771" y="4042642"/>
                </a:lnTo>
                <a:lnTo>
                  <a:pt x="0" y="40426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805646" y="4657140"/>
            <a:ext cx="4083520" cy="4473976"/>
          </a:xfrm>
          <a:custGeom>
            <a:avLst/>
            <a:gdLst/>
            <a:ahLst/>
            <a:cxnLst/>
            <a:rect r="r" b="b" t="t" l="l"/>
            <a:pathLst>
              <a:path h="4473976" w="4083520">
                <a:moveTo>
                  <a:pt x="0" y="0"/>
                </a:moveTo>
                <a:lnTo>
                  <a:pt x="4083519" y="0"/>
                </a:lnTo>
                <a:lnTo>
                  <a:pt x="4083519" y="4473975"/>
                </a:lnTo>
                <a:lnTo>
                  <a:pt x="0" y="4473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false" rot="0">
            <a:off x="14494422" y="409890"/>
            <a:ext cx="4254320" cy="1237620"/>
          </a:xfrm>
          <a:custGeom>
            <a:avLst/>
            <a:gdLst/>
            <a:ahLst/>
            <a:cxnLst/>
            <a:rect r="r" b="b" t="t" l="l"/>
            <a:pathLst>
              <a:path h="1237620" w="4254320">
                <a:moveTo>
                  <a:pt x="4254320" y="0"/>
                </a:moveTo>
                <a:lnTo>
                  <a:pt x="0" y="0"/>
                </a:lnTo>
                <a:lnTo>
                  <a:pt x="0" y="1237620"/>
                </a:lnTo>
                <a:lnTo>
                  <a:pt x="4254320" y="1237620"/>
                </a:lnTo>
                <a:lnTo>
                  <a:pt x="425432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2261043" y="1202118"/>
            <a:ext cx="13765915" cy="3327663"/>
          </a:xfrm>
          <a:prstGeom prst="rect">
            <a:avLst/>
          </a:prstGeom>
        </p:spPr>
        <p:txBody>
          <a:bodyPr anchor="t" rtlCol="false" tIns="0" lIns="0" bIns="0" rIns="0">
            <a:spAutoFit/>
          </a:bodyPr>
          <a:lstStyle/>
          <a:p>
            <a:pPr algn="ctr" marL="0" indent="0" lvl="0">
              <a:lnSpc>
                <a:spcPts val="11872"/>
              </a:lnSpc>
            </a:pPr>
            <a:r>
              <a:rPr lang="en-US" sz="14479">
                <a:solidFill>
                  <a:srgbClr val="11212D"/>
                </a:solidFill>
                <a:latin typeface="Cubao Narrow"/>
              </a:rPr>
              <a:t>project tip: live code demo</a:t>
            </a:r>
          </a:p>
        </p:txBody>
      </p:sp>
      <p:sp>
        <p:nvSpPr>
          <p:cNvPr name="Freeform 11" id="11"/>
          <p:cNvSpPr/>
          <p:nvPr/>
        </p:nvSpPr>
        <p:spPr>
          <a:xfrm flipH="true" flipV="false" rot="0">
            <a:off x="1115422" y="2610656"/>
            <a:ext cx="2793873" cy="812763"/>
          </a:xfrm>
          <a:custGeom>
            <a:avLst/>
            <a:gdLst/>
            <a:ahLst/>
            <a:cxnLst/>
            <a:rect r="r" b="b" t="t" l="l"/>
            <a:pathLst>
              <a:path h="812763" w="2793873">
                <a:moveTo>
                  <a:pt x="2793874" y="0"/>
                </a:moveTo>
                <a:lnTo>
                  <a:pt x="0" y="0"/>
                </a:lnTo>
                <a:lnTo>
                  <a:pt x="0" y="812763"/>
                </a:lnTo>
                <a:lnTo>
                  <a:pt x="2793874" y="812763"/>
                </a:lnTo>
                <a:lnTo>
                  <a:pt x="2793874"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true" flipV="false" rot="0">
            <a:off x="13645040" y="2954147"/>
            <a:ext cx="2527225" cy="735193"/>
          </a:xfrm>
          <a:custGeom>
            <a:avLst/>
            <a:gdLst/>
            <a:ahLst/>
            <a:cxnLst/>
            <a:rect r="r" b="b" t="t" l="l"/>
            <a:pathLst>
              <a:path h="735193" w="2527225">
                <a:moveTo>
                  <a:pt x="2527225" y="0"/>
                </a:moveTo>
                <a:lnTo>
                  <a:pt x="0" y="0"/>
                </a:lnTo>
                <a:lnTo>
                  <a:pt x="0" y="735192"/>
                </a:lnTo>
                <a:lnTo>
                  <a:pt x="2527225" y="735192"/>
                </a:lnTo>
                <a:lnTo>
                  <a:pt x="2527225"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true" flipV="false" rot="0">
            <a:off x="1992188" y="1824999"/>
            <a:ext cx="1917108" cy="557704"/>
          </a:xfrm>
          <a:custGeom>
            <a:avLst/>
            <a:gdLst/>
            <a:ahLst/>
            <a:cxnLst/>
            <a:rect r="r" b="b" t="t" l="l"/>
            <a:pathLst>
              <a:path h="557704" w="1917108">
                <a:moveTo>
                  <a:pt x="1917108" y="0"/>
                </a:moveTo>
                <a:lnTo>
                  <a:pt x="0" y="0"/>
                </a:lnTo>
                <a:lnTo>
                  <a:pt x="0" y="557704"/>
                </a:lnTo>
                <a:lnTo>
                  <a:pt x="1917108" y="557704"/>
                </a:lnTo>
                <a:lnTo>
                  <a:pt x="191710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559719" y="542266"/>
            <a:ext cx="1917108" cy="557704"/>
          </a:xfrm>
          <a:custGeom>
            <a:avLst/>
            <a:gdLst/>
            <a:ahLst/>
            <a:cxnLst/>
            <a:rect r="r" b="b" t="t" l="l"/>
            <a:pathLst>
              <a:path h="557704" w="1917108">
                <a:moveTo>
                  <a:pt x="1917107" y="0"/>
                </a:moveTo>
                <a:lnTo>
                  <a:pt x="0" y="0"/>
                </a:lnTo>
                <a:lnTo>
                  <a:pt x="0" y="557704"/>
                </a:lnTo>
                <a:lnTo>
                  <a:pt x="1917107" y="557704"/>
                </a:lnTo>
                <a:lnTo>
                  <a:pt x="1917107"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BDE1EF"/>
        </a:solidFill>
      </p:bgPr>
    </p:bg>
    <p:spTree>
      <p:nvGrpSpPr>
        <p:cNvPr id="1" name=""/>
        <p:cNvGrpSpPr/>
        <p:nvPr/>
      </p:nvGrpSpPr>
      <p:grpSpPr>
        <a:xfrm>
          <a:off x="0" y="0"/>
          <a:ext cx="0" cy="0"/>
          <a:chOff x="0" y="0"/>
          <a:chExt cx="0" cy="0"/>
        </a:xfrm>
      </p:grpSpPr>
      <p:grpSp>
        <p:nvGrpSpPr>
          <p:cNvPr name="Group 2" id="2"/>
          <p:cNvGrpSpPr/>
          <p:nvPr/>
        </p:nvGrpSpPr>
        <p:grpSpPr>
          <a:xfrm rot="0">
            <a:off x="0" y="9131115"/>
            <a:ext cx="18288000" cy="1155885"/>
            <a:chOff x="0" y="0"/>
            <a:chExt cx="4816593" cy="304430"/>
          </a:xfrm>
        </p:grpSpPr>
        <p:sp>
          <p:nvSpPr>
            <p:cNvPr name="Freeform 3" id="3"/>
            <p:cNvSpPr/>
            <p:nvPr/>
          </p:nvSpPr>
          <p:spPr>
            <a:xfrm flipH="false" flipV="false" rot="0">
              <a:off x="0" y="0"/>
              <a:ext cx="4816592" cy="304430"/>
            </a:xfrm>
            <a:custGeom>
              <a:avLst/>
              <a:gdLst/>
              <a:ahLst/>
              <a:cxnLst/>
              <a:rect r="r" b="b" t="t" l="l"/>
              <a:pathLst>
                <a:path h="304430" w="4816592">
                  <a:moveTo>
                    <a:pt x="0" y="0"/>
                  </a:moveTo>
                  <a:lnTo>
                    <a:pt x="4816592" y="0"/>
                  </a:lnTo>
                  <a:lnTo>
                    <a:pt x="4816592" y="304430"/>
                  </a:lnTo>
                  <a:lnTo>
                    <a:pt x="0" y="304430"/>
                  </a:lnTo>
                  <a:close/>
                </a:path>
              </a:pathLst>
            </a:custGeom>
            <a:solidFill>
              <a:srgbClr val="898E91"/>
            </a:solidFill>
          </p:spPr>
        </p:sp>
        <p:sp>
          <p:nvSpPr>
            <p:cNvPr name="TextBox 4" id="4"/>
            <p:cNvSpPr txBox="true"/>
            <p:nvPr/>
          </p:nvSpPr>
          <p:spPr>
            <a:xfrm>
              <a:off x="0" y="-38100"/>
              <a:ext cx="4816593" cy="3425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7253421" y="5348747"/>
            <a:ext cx="3912801" cy="4114800"/>
          </a:xfrm>
          <a:custGeom>
            <a:avLst/>
            <a:gdLst/>
            <a:ahLst/>
            <a:cxnLst/>
            <a:rect r="r" b="b" t="t" l="l"/>
            <a:pathLst>
              <a:path h="4114800" w="3912801">
                <a:moveTo>
                  <a:pt x="0" y="0"/>
                </a:moveTo>
                <a:lnTo>
                  <a:pt x="3912800" y="0"/>
                </a:lnTo>
                <a:lnTo>
                  <a:pt x="3912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588846" y="5143500"/>
            <a:ext cx="4308818" cy="3987615"/>
          </a:xfrm>
          <a:custGeom>
            <a:avLst/>
            <a:gdLst/>
            <a:ahLst/>
            <a:cxnLst/>
            <a:rect r="r" b="b" t="t" l="l"/>
            <a:pathLst>
              <a:path h="3987615" w="4308818">
                <a:moveTo>
                  <a:pt x="0" y="0"/>
                </a:moveTo>
                <a:lnTo>
                  <a:pt x="4308819" y="0"/>
                </a:lnTo>
                <a:lnTo>
                  <a:pt x="4308819" y="3987615"/>
                </a:lnTo>
                <a:lnTo>
                  <a:pt x="0" y="39876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518646" y="5162550"/>
            <a:ext cx="3639605" cy="3987615"/>
          </a:xfrm>
          <a:custGeom>
            <a:avLst/>
            <a:gdLst/>
            <a:ahLst/>
            <a:cxnLst/>
            <a:rect r="r" b="b" t="t" l="l"/>
            <a:pathLst>
              <a:path h="3987615" w="3639605">
                <a:moveTo>
                  <a:pt x="0" y="0"/>
                </a:moveTo>
                <a:lnTo>
                  <a:pt x="3639606" y="0"/>
                </a:lnTo>
                <a:lnTo>
                  <a:pt x="3639606" y="3987615"/>
                </a:lnTo>
                <a:lnTo>
                  <a:pt x="0" y="39876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799421" y="5594258"/>
            <a:ext cx="2416510" cy="4114800"/>
          </a:xfrm>
          <a:custGeom>
            <a:avLst/>
            <a:gdLst/>
            <a:ahLst/>
            <a:cxnLst/>
            <a:rect r="r" b="b" t="t" l="l"/>
            <a:pathLst>
              <a:path h="4114800" w="2416510">
                <a:moveTo>
                  <a:pt x="0" y="0"/>
                </a:moveTo>
                <a:lnTo>
                  <a:pt x="2416510" y="0"/>
                </a:lnTo>
                <a:lnTo>
                  <a:pt x="241651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28700" y="5739565"/>
            <a:ext cx="2087326" cy="4114800"/>
          </a:xfrm>
          <a:custGeom>
            <a:avLst/>
            <a:gdLst/>
            <a:ahLst/>
            <a:cxnLst/>
            <a:rect r="r" b="b" t="t" l="l"/>
            <a:pathLst>
              <a:path h="4114800" w="2087326">
                <a:moveTo>
                  <a:pt x="0" y="0"/>
                </a:moveTo>
                <a:lnTo>
                  <a:pt x="2087326" y="0"/>
                </a:lnTo>
                <a:lnTo>
                  <a:pt x="208732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3477041" y="1274682"/>
            <a:ext cx="11322380" cy="1822713"/>
          </a:xfrm>
          <a:prstGeom prst="rect">
            <a:avLst/>
          </a:prstGeom>
        </p:spPr>
        <p:txBody>
          <a:bodyPr anchor="t" rtlCol="false" tIns="0" lIns="0" bIns="0" rIns="0">
            <a:spAutoFit/>
          </a:bodyPr>
          <a:lstStyle/>
          <a:p>
            <a:pPr algn="ctr" marL="0" indent="0" lvl="0">
              <a:lnSpc>
                <a:spcPts val="11872"/>
              </a:lnSpc>
              <a:spcBef>
                <a:spcPct val="0"/>
              </a:spcBef>
            </a:pPr>
            <a:r>
              <a:rPr lang="en-US" sz="14479" strike="noStrike" u="none">
                <a:solidFill>
                  <a:srgbClr val="0E6BAA"/>
                </a:solidFill>
                <a:latin typeface="Cubao"/>
              </a:rPr>
              <a:t>thank you</a:t>
            </a:r>
          </a:p>
        </p:txBody>
      </p:sp>
      <p:sp>
        <p:nvSpPr>
          <p:cNvPr name="TextBox 11" id="11"/>
          <p:cNvSpPr txBox="true"/>
          <p:nvPr/>
        </p:nvSpPr>
        <p:spPr>
          <a:xfrm rot="0">
            <a:off x="3477041" y="2811770"/>
            <a:ext cx="11322380" cy="1821101"/>
          </a:xfrm>
          <a:prstGeom prst="rect">
            <a:avLst/>
          </a:prstGeom>
        </p:spPr>
        <p:txBody>
          <a:bodyPr anchor="t" rtlCol="false" tIns="0" lIns="0" bIns="0" rIns="0">
            <a:spAutoFit/>
          </a:bodyPr>
          <a:lstStyle/>
          <a:p>
            <a:pPr algn="ctr" marL="0" indent="0" lvl="0">
              <a:lnSpc>
                <a:spcPts val="11872"/>
              </a:lnSpc>
              <a:spcBef>
                <a:spcPct val="0"/>
              </a:spcBef>
            </a:pPr>
            <a:r>
              <a:rPr lang="en-US" sz="14479" strike="noStrike" u="none">
                <a:solidFill>
                  <a:srgbClr val="C4351E"/>
                </a:solidFill>
                <a:latin typeface="Cubao Narrow"/>
              </a:rPr>
              <a:t>for listening</a:t>
            </a:r>
          </a:p>
        </p:txBody>
      </p:sp>
      <p:sp>
        <p:nvSpPr>
          <p:cNvPr name="Freeform 12" id="12"/>
          <p:cNvSpPr/>
          <p:nvPr/>
        </p:nvSpPr>
        <p:spPr>
          <a:xfrm flipH="true" flipV="false" rot="0">
            <a:off x="14688706" y="3736907"/>
            <a:ext cx="2527225" cy="735193"/>
          </a:xfrm>
          <a:custGeom>
            <a:avLst/>
            <a:gdLst/>
            <a:ahLst/>
            <a:cxnLst/>
            <a:rect r="r" b="b" t="t" l="l"/>
            <a:pathLst>
              <a:path h="735193" w="2527225">
                <a:moveTo>
                  <a:pt x="2527225" y="0"/>
                </a:moveTo>
                <a:lnTo>
                  <a:pt x="0" y="0"/>
                </a:lnTo>
                <a:lnTo>
                  <a:pt x="0" y="735193"/>
                </a:lnTo>
                <a:lnTo>
                  <a:pt x="2527225" y="735193"/>
                </a:lnTo>
                <a:lnTo>
                  <a:pt x="252722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true" flipV="false" rot="0">
            <a:off x="14810707" y="1075142"/>
            <a:ext cx="3612904" cy="1051027"/>
          </a:xfrm>
          <a:custGeom>
            <a:avLst/>
            <a:gdLst/>
            <a:ahLst/>
            <a:cxnLst/>
            <a:rect r="r" b="b" t="t" l="l"/>
            <a:pathLst>
              <a:path h="1051027" w="3612904">
                <a:moveTo>
                  <a:pt x="3612904" y="0"/>
                </a:moveTo>
                <a:lnTo>
                  <a:pt x="0" y="0"/>
                </a:lnTo>
                <a:lnTo>
                  <a:pt x="0" y="1051027"/>
                </a:lnTo>
                <a:lnTo>
                  <a:pt x="3612904" y="1051027"/>
                </a:lnTo>
                <a:lnTo>
                  <a:pt x="3612904"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true" flipV="false" rot="0">
            <a:off x="1130352" y="865393"/>
            <a:ext cx="3612904" cy="1051027"/>
          </a:xfrm>
          <a:custGeom>
            <a:avLst/>
            <a:gdLst/>
            <a:ahLst/>
            <a:cxnLst/>
            <a:rect r="r" b="b" t="t" l="l"/>
            <a:pathLst>
              <a:path h="1051027" w="3612904">
                <a:moveTo>
                  <a:pt x="3612903" y="0"/>
                </a:moveTo>
                <a:lnTo>
                  <a:pt x="0" y="0"/>
                </a:lnTo>
                <a:lnTo>
                  <a:pt x="0" y="1051027"/>
                </a:lnTo>
                <a:lnTo>
                  <a:pt x="3612903" y="1051027"/>
                </a:lnTo>
                <a:lnTo>
                  <a:pt x="361290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true" flipV="false" rot="0">
            <a:off x="-1332785" y="2387837"/>
            <a:ext cx="3612904" cy="1051027"/>
          </a:xfrm>
          <a:custGeom>
            <a:avLst/>
            <a:gdLst/>
            <a:ahLst/>
            <a:cxnLst/>
            <a:rect r="r" b="b" t="t" l="l"/>
            <a:pathLst>
              <a:path h="1051027" w="3612904">
                <a:moveTo>
                  <a:pt x="3612904" y="0"/>
                </a:moveTo>
                <a:lnTo>
                  <a:pt x="0" y="0"/>
                </a:lnTo>
                <a:lnTo>
                  <a:pt x="0" y="1051026"/>
                </a:lnTo>
                <a:lnTo>
                  <a:pt x="3612904" y="1051026"/>
                </a:lnTo>
                <a:lnTo>
                  <a:pt x="3612904"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true" flipV="false" rot="0">
            <a:off x="2338032" y="3930316"/>
            <a:ext cx="1197544" cy="348376"/>
          </a:xfrm>
          <a:custGeom>
            <a:avLst/>
            <a:gdLst/>
            <a:ahLst/>
            <a:cxnLst/>
            <a:rect r="r" b="b" t="t" l="l"/>
            <a:pathLst>
              <a:path h="348376" w="1197544">
                <a:moveTo>
                  <a:pt x="1197543" y="0"/>
                </a:moveTo>
                <a:lnTo>
                  <a:pt x="0" y="0"/>
                </a:lnTo>
                <a:lnTo>
                  <a:pt x="0" y="348376"/>
                </a:lnTo>
                <a:lnTo>
                  <a:pt x="1197543" y="348376"/>
                </a:lnTo>
                <a:lnTo>
                  <a:pt x="119754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true" flipV="false" rot="0">
            <a:off x="16617159" y="3183444"/>
            <a:ext cx="1197544" cy="348376"/>
          </a:xfrm>
          <a:custGeom>
            <a:avLst/>
            <a:gdLst/>
            <a:ahLst/>
            <a:cxnLst/>
            <a:rect r="r" b="b" t="t" l="l"/>
            <a:pathLst>
              <a:path h="348376" w="1197544">
                <a:moveTo>
                  <a:pt x="1197543" y="0"/>
                </a:moveTo>
                <a:lnTo>
                  <a:pt x="0" y="0"/>
                </a:lnTo>
                <a:lnTo>
                  <a:pt x="0" y="348376"/>
                </a:lnTo>
                <a:lnTo>
                  <a:pt x="1197543" y="348376"/>
                </a:lnTo>
                <a:lnTo>
                  <a:pt x="119754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DAGHDXrOo0A</dc:identifier>
  <dcterms:modified xsi:type="dcterms:W3CDTF">2011-08-01T06:04:30Z</dcterms:modified>
  <cp:revision>1</cp:revision>
  <dc:title>Copy of Group 2 - TIP</dc:title>
</cp:coreProperties>
</file>